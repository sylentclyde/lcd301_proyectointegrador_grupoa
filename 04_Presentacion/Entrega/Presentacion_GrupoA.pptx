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aeb46dd9ac4468" /><Relationship Type="http://schemas.openxmlformats.org/officeDocument/2006/relationships/extended-properties" Target="/docProps/app.xml" Id="Rf0dadbc738e54ee7" /><Relationship Type="http://schemas.openxmlformats.org/officeDocument/2006/relationships/officeDocument" Target="/ppt/presentation.xml" Id="Rf0401031003441b3" /></Relationships>
</file>

<file path=ppt/presentation.xml><?xml version="1.0" encoding="utf-8"?>
<p:presentation xmlns:p="http://schemas.openxmlformats.org/presentationml/2006/main">
  <p:sldMasterIdLst>
    <p:sldMasterId xmlns:r="http://schemas.openxmlformats.org/officeDocument/2006/relationships" id="2147483648" r:id="R59e2890acc9a4744"/>
  </p:sldMasterIdLst>
  <p:notesMasterIdLst>
    <p:notesMasterId xmlns:r="http://schemas.openxmlformats.org/officeDocument/2006/relationships" r:id="R428df94b02854325"/>
  </p:notesMasterIdLst>
  <p:sldIdLst>
    <p:sldId xmlns:r="http://schemas.openxmlformats.org/officeDocument/2006/relationships" id="256" r:id="Rc691f3685add411d"/>
    <p:sldId xmlns:r="http://schemas.openxmlformats.org/officeDocument/2006/relationships" id="257" r:id="R13e091b5e76940ce"/>
    <p:sldId xmlns:r="http://schemas.openxmlformats.org/officeDocument/2006/relationships" id="258" r:id="R1b89bc92c7d24a50"/>
    <p:sldId xmlns:r="http://schemas.openxmlformats.org/officeDocument/2006/relationships" id="259" r:id="R9b1c35b6d0f347be"/>
    <p:sldId xmlns:r="http://schemas.openxmlformats.org/officeDocument/2006/relationships" id="260" r:id="Rcf258f58fd21403a"/>
    <p:sldId xmlns:r="http://schemas.openxmlformats.org/officeDocument/2006/relationships" id="261" r:id="Re3261bf016e44768"/>
    <p:sldId xmlns:r="http://schemas.openxmlformats.org/officeDocument/2006/relationships" id="262" r:id="Rc57c1ce4c3964a36"/>
    <p:sldId xmlns:r="http://schemas.openxmlformats.org/officeDocument/2006/relationships" id="263" r:id="Rda16abc6cfe143b8"/>
    <p:sldId xmlns:r="http://schemas.openxmlformats.org/officeDocument/2006/relationships" id="264" r:id="R74d0a79dce394115"/>
    <p:sldId xmlns:r="http://schemas.openxmlformats.org/officeDocument/2006/relationships" id="265" r:id="R6c03cebd34b543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b75f535ee44e58" /><Relationship Type="http://schemas.openxmlformats.org/officeDocument/2006/relationships/slideMaster" Target="/ppt/slideMasters/slideMaster1.xml" Id="R59e2890acc9a4744" /><Relationship Type="http://schemas.openxmlformats.org/officeDocument/2006/relationships/notesMaster" Target="/ppt/notesMasters/notesMaster1.xml" Id="R428df94b02854325" /><Relationship Type="http://schemas.openxmlformats.org/officeDocument/2006/relationships/presProps" Target="/ppt/presProps.xml" Id="Rc30eae3055844e9d" /><Relationship Type="http://schemas.openxmlformats.org/officeDocument/2006/relationships/tableStyles" Target="/ppt/tableStyles.xml" Id="R4cdc99e3f45d43cd" /><Relationship Type="http://schemas.openxmlformats.org/officeDocument/2006/relationships/slide" Target="/ppt/slides/slide1.xml" Id="Rc691f3685add411d" /><Relationship Type="http://schemas.openxmlformats.org/officeDocument/2006/relationships/slide" Target="/ppt/slides/slide2.xml" Id="R13e091b5e76940ce" /><Relationship Type="http://schemas.openxmlformats.org/officeDocument/2006/relationships/slide" Target="/ppt/slides/slide3.xml" Id="R1b89bc92c7d24a50" /><Relationship Type="http://schemas.openxmlformats.org/officeDocument/2006/relationships/slide" Target="/ppt/slides/slide4.xml" Id="R9b1c35b6d0f347be" /><Relationship Type="http://schemas.openxmlformats.org/officeDocument/2006/relationships/slide" Target="/ppt/slides/slide5.xml" Id="Rcf258f58fd21403a" /><Relationship Type="http://schemas.openxmlformats.org/officeDocument/2006/relationships/slide" Target="/ppt/slides/slide6.xml" Id="Re3261bf016e44768" /><Relationship Type="http://schemas.openxmlformats.org/officeDocument/2006/relationships/slide" Target="/ppt/slides/slide7.xml" Id="Rc57c1ce4c3964a36" /><Relationship Type="http://schemas.openxmlformats.org/officeDocument/2006/relationships/slide" Target="/ppt/slides/slide8.xml" Id="Rda16abc6cfe143b8" /><Relationship Type="http://schemas.openxmlformats.org/officeDocument/2006/relationships/slide" Target="/ppt/slides/slide9.xml" Id="R74d0a79dce394115" /><Relationship Type="http://schemas.openxmlformats.org/officeDocument/2006/relationships/slide" Target="/ppt/slides/slide10.xml" Id="R6c03cebd34b543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3cc3700f394c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dccb128bc24a30" /><Relationship Type="http://schemas.openxmlformats.org/officeDocument/2006/relationships/notesMaster" Target="/ppt/notesMasters/notesMaster1.xml" Id="Rc2659cfa0aa845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d97824a1124437" /><Relationship Type="http://schemas.openxmlformats.org/officeDocument/2006/relationships/notesMaster" Target="/ppt/notesMasters/notesMaster1.xml" Id="R94f4d391ad624c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8731dc15bd4e39" /><Relationship Type="http://schemas.openxmlformats.org/officeDocument/2006/relationships/notesMaster" Target="/ppt/notesMasters/notesMaster1.xml" Id="Rf921aaced7bc44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03dd4cadca4e40" /><Relationship Type="http://schemas.openxmlformats.org/officeDocument/2006/relationships/notesMaster" Target="/ppt/notesMasters/notesMaster1.xml" Id="R08d8fd78f7e14e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4c4aed00a84cdc" /><Relationship Type="http://schemas.openxmlformats.org/officeDocument/2006/relationships/notesMaster" Target="/ppt/notesMasters/notesMaster1.xml" Id="Rf1f1ad5b9d874a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2d5afea2924f90" /><Relationship Type="http://schemas.openxmlformats.org/officeDocument/2006/relationships/notesMaster" Target="/ppt/notesMasters/notesMaster1.xml" Id="R66725aee89cb47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985ca45d624bd0" /><Relationship Type="http://schemas.openxmlformats.org/officeDocument/2006/relationships/notesMaster" Target="/ppt/notesMasters/notesMaster1.xml" Id="R246b7932a1c649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b97a97a4484b4b" /><Relationship Type="http://schemas.openxmlformats.org/officeDocument/2006/relationships/notesMaster" Target="/ppt/notesMasters/notesMaster1.xml" Id="R6213380bdc9846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47623622264888" /><Relationship Type="http://schemas.openxmlformats.org/officeDocument/2006/relationships/notesMaster" Target="/ppt/notesMasters/notesMaster1.xml" Id="R38260f164e2e43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60d771f1c64c04" /><Relationship Type="http://schemas.openxmlformats.org/officeDocument/2006/relationships/notesMaster" Target="/ppt/notesMasters/notesMaster1.xml" Id="Rc59d52f7e1834a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Proyecto nuevo de e-commerce de Grupo A. Alcance académico con datos sintéticos, fechas de abril a septiembre de 2026 y moneda BOB. Arquitectura batch con Apache NiFi, Apache Spark, PostgreSQL y Plotly Dash. Fuente: consigna LCD301 entregada por el instructor.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responder qué productos y canales generan ingresos, dónde se concentran las devoluciones y qué clientes repiten sus compras. Los pesos corresponden a la consigna del proyecto, no a una calificación obtenida. Alcance batch: no aplica windowing de streaming. Fuente: consigna LCD301.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NiFi utiliza InvokeHTTP para REST y GetFile para CSV. Spark carga staging mediante JDBC y PostgreSQL publica una transacción. Dash consulta los hechos publicados. Ejecución real en Windows con NiFi 2.12.0, Spark 4.0.1 en local[2], PostgreSQL 17.6 y JDBC 42.7.7. El flujo NiFi contiene 20 procesadores y 30 conexiones. Docker Compose tiene validación estática, sin ejecución de contenedores. La versión PostgreSQL 17.11 del contenedor no corresponde al motor nativo medido. Fuente: 02_Codigo/ y 03_Visualizaciones/evidencias/nifi_configuracion_final.json.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contiene 31.000 hechos publicados, conciliados con la fuente y PostgreSQL. Fechas ISO UTC, importes enteros en centavos y moneda BOB. El descuento es total por línea. Cada refund conserva original_payment_id y order_line_id. La creación y el pago comparten líneas. La cancelación registra total_cents=0. El gráfico cuenta eventos, no ingresos. Fuente: data/source/expected.json, data/evidence/database_verification_initial.json y 02_Codigo/fuentes/event.v1.schema.json.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NiFi conserva 20 rechazos de JSON Schema y una fila inválida del catálogo CSV. BASE registra 18 rechazos de reglas de negocio y dos referencias de pago pendientes, sin efecto financiero. Los 25 duplicados exactos del lote inicial no agregan hechos. El replay real publica cero eventos nuevos. La prueba de transporte conserva una respuesta final de fallo tras cuatro intentos. Los errores previos a BASE se guardan en la carpeta preflight para no mezclarlos con rechazos del lote. El límite de API es 120 consultas/minuto y responde 429 con Retry-After. Fuentes: data/evidence/initial_run.json, database_verification_initial.json y 03_Visualizaciones/evidencias/nifi_reintentos_http.json.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ecommerce. event_registry controla unicidad global. fact_event y fact_event_line usan particiones mensuales por event_month. Las restricciones de unicidad en una tabla particionada deben incluir la clave de partición, por eso el registro global es independiente. El backup custom final ocupa 12.982.037 bytes, equivalentes a 12,98 MB decimales. pg_restore recuperó una base separada y la verificación comparó conteos y SHA-256 de ocho tablas, además de pedidos pagados e ingreso neto. El respaldo final conserva 31.007 hechos después del delta y su reconciliación aprobó. El respaldo BASE se conserva por separado. Fuentes: 02_Codigo/sql/00_schema.sql y data/evidence/backup_verification_after_delta.json.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Q1 usa fecha del evento financiero. Q5 usa cohortes de fecha de pago con 30 días completos de observación, y devoluciones dentro de los 30 días. La consulta conserva una fila por pago para evitar multiplicar importes al unir líneas. Denominador cero produce sin datos. Valor del cliente es observado, sin predicción de CLV. El benchmark BASE + DELTA conserva primera medición y cinco repeticiones por consulta, más EXPLAIN ANALYZE BUFFERS. El rango mostrado corresponde a las seis medianas de tiempo cliente, una por consulta. La primera medición no garantiza caché fría. Dashboard activo y host compartido; el respaldo final terminó antes de esta medición. Sin aislamiento de CPU/E/S. Sin comparación antes/después. Fuente: data/evidence/benchmark/benchmark_summary.json y consultas Q1 a Q6 en 02_Codigo/sql/.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capturas corresponden a la ejecución real del dashboard después del delta, con 31.007 eventos conectados e ingreso neto de 26.381.649,45 BOB. La vista operacional muestra publicación, rechazos separados de pendientes, duración de jobs y latencia persisted_at-ingested_at. ingested_at se asigna en UpdateAttribute de NiFi después de SplitJson. La latencia incluye espera del batch y procesamiento Spark, y excluye HTTP y colas anteriores a ese punto. Negocio presenta seis tipos de gráfico: líneas, barras, mapa de calor, dona, dispersión e histograma. Las barras expresan unidades netas y el histograma muestra importes de ticket, con sus unidades. Filtros de fechas, canal y categoría con detalle por selección. Refresco automático sujeto a publicación batch. Ocho pruebas unitarias del dashboard aprobaron. La integración final comprobó KPIs y filtros con datos reales, incluida la consulta de cancelaciones en quince pares canal/categoría. Fuente: 03_Visualizaciones/dashboard/ y 03_Visualizaciones/evidencias/dashboard_verification_final.json.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iniciar servicios, ejecutar ingesta inicial, verificar calidad y publicación, repetir lote, ingresar delta y navegar dashboards. La actualización delta suma 380,00 BOB brutos y resta 100,00 de reembolso, para un incremento neto de 280,00 BOB. El pedido controlado con múltiples devoluciones y los eventos alrededor de límites mensuales conservan sus referencias. Fuente: data/source/expected.json, data/evidence/delta_run.json y data/evidence/database_verification_after_delta.json.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Importes calculados desde datos sintéticos válidos, semilla 301. Inicial: bruto 28.041.488,60 BOB, reembolso 1.660.119,15 BOB y neto 26.381.369,45 BOB. Tras delta: neto 26.381.649,45 BOB. Clientes recurrentes 795/1000 = 79,5%. Fuente: data/source/expected.json, data/evidence/database_verification_initial.json y data/evidence/database_verification_after_delta.json. Estado PostgreSQL: reconciliado con evidencia del laboratorio.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2bdc2609a348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ff2f7007f745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23b81468044a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cfa2047aa64c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99928a2ebd43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0fa7e4149243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AAB9F2-6169-486E-88BC-81423C9951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C0DA25-C1DC-453A-B777-4EC3DB1806E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F49450-31A2-4A1F-8EAC-2D04C796FA3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64D127-5F18-433D-8856-EF211D67C5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2CB4FB-3097-4434-852D-EDEE9ACC72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BE63104-1268-401A-8132-C4320D1F1F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99CAED-9102-4270-9FB0-1BC9AC3315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7B0FB1-D277-4D80-9307-B7C63E61C8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C1E026-0FA5-4721-B691-F46D75F9A0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DEA7CA-717E-42CA-957C-895ED9DCB5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fd857c0d874c65" /><Relationship Type="http://schemas.openxmlformats.org/officeDocument/2006/relationships/slideLayout" Target="/ppt/slideLayouts/slideLayout1.xml" Id="R6b715876e7fa4993" /><Relationship Type="http://schemas.openxmlformats.org/officeDocument/2006/relationships/slideLayout" Target="/ppt/slideLayouts/slideLayout2.xml" Id="R5247366fed454b8c" /><Relationship Type="http://schemas.openxmlformats.org/officeDocument/2006/relationships/slideLayout" Target="/ppt/slideLayouts/slideLayout3.xml" Id="R52c2dcde1139445a" /><Relationship Type="http://schemas.openxmlformats.org/officeDocument/2006/relationships/slideLayout" Target="/ppt/slideLayouts/slideLayout4.xml" Id="R202a366c92c14255" /><Relationship Type="http://schemas.openxmlformats.org/officeDocument/2006/relationships/slideLayout" Target="/ppt/slideLayouts/slideLayout5.xml" Id="Rc8cb2db4edd945a9" /><Relationship Type="http://schemas.openxmlformats.org/officeDocument/2006/relationships/slideLayout" Target="/ppt/slideLayouts/slideLayout6.xml" Id="Rc77da3616d6041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715876e7fa4993"/>
    <p:sldLayoutId xmlns:r="http://schemas.openxmlformats.org/officeDocument/2006/relationships" id="2147483650" r:id="R5247366fed454b8c"/>
    <p:sldLayoutId xmlns:r="http://schemas.openxmlformats.org/officeDocument/2006/relationships" id="2147483651" r:id="R52c2dcde1139445a"/>
    <p:sldLayoutId xmlns:r="http://schemas.openxmlformats.org/officeDocument/2006/relationships" id="2147483652" r:id="R202a366c92c14255"/>
    <p:sldLayoutId xmlns:r="http://schemas.openxmlformats.org/officeDocument/2006/relationships" id="2147483653" r:id="Rc8cb2db4edd945a9"/>
    <p:sldLayoutId xmlns:r="http://schemas.openxmlformats.org/officeDocument/2006/relationships" id="2147483654" r:id="Rc77da3616d6041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e4af3908c84df1" /><Relationship Type="http://schemas.openxmlformats.org/officeDocument/2006/relationships/notesSlide" Target="/ppt/notesSlides/notesSlide1.xml" Id="R0976b7f2122e42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35d6d1151f4470d" /><Relationship Type="http://schemas.openxmlformats.org/officeDocument/2006/relationships/notesSlide" Target="/ppt/notesSlides/notesSlide2.xml" Id="R8313c619930943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e5232190cb4282" /><Relationship Type="http://schemas.openxmlformats.org/officeDocument/2006/relationships/notesSlide" Target="/ppt/notesSlides/notesSlide3.xml" Id="R6007968f73c94a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57019a9b3d44a5" /><Relationship Type="http://schemas.openxmlformats.org/officeDocument/2006/relationships/chart" Target="/ppt/slides/charts/chart1.xml" Id="R2870f6ec53e74202" /><Relationship Type="http://schemas.openxmlformats.org/officeDocument/2006/relationships/notesSlide" Target="/ppt/notesSlides/notesSlide4.xml" Id="R7b28c74134cc4e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7087d216144161" /><Relationship Type="http://schemas.openxmlformats.org/officeDocument/2006/relationships/notesSlide" Target="/ppt/notesSlides/notesSlide5.xml" Id="Rfd6889f3d86f4d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aa18ae3e2945d8" /><Relationship Type="http://schemas.openxmlformats.org/officeDocument/2006/relationships/notesSlide" Target="/ppt/notesSlides/notesSlide6.xml" Id="R3797a4904c7c4f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6fa367ceb53448e" /><Relationship Type="http://schemas.openxmlformats.org/officeDocument/2006/relationships/notesSlide" Target="/ppt/notesSlides/notesSlide7.xml" Id="R42511e3b0f714d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764f650c7304ee2" /><Relationship Type="http://schemas.openxmlformats.org/officeDocument/2006/relationships/image" Target="/ppt/media/image.jpeg" Id="R4901ee3416274924" /><Relationship Type="http://schemas.openxmlformats.org/officeDocument/2006/relationships/image" Target="/ppt/media/image2.jpeg" Id="R1aba444f44ad4347" /><Relationship Type="http://schemas.openxmlformats.org/officeDocument/2006/relationships/notesSlide" Target="/ppt/notesSlides/notesSlide8.xml" Id="R1c60ec03f0c043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b094810f2cc45fd" /><Relationship Type="http://schemas.openxmlformats.org/officeDocument/2006/relationships/notesSlide" Target="/ppt/notesSlides/notesSlide9.xml" Id="R1b89b7c347ff40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03bb15155f42a9" /><Relationship Type="http://schemas.openxmlformats.org/officeDocument/2006/relationships/notesSlide" Target="/ppt/notesSlides/notesSlide10.xml" Id="R6800d3286b52419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00" b="1">
                <a:solidFill>
                  <a:srgbClr val="102D44"/>
                </a:solidFill>
                <a:latin typeface="Arial"/>
                <a:ea typeface="Arial"/>
                <a:cs typeface="Arial"/>
              </a:rPr>
              <a:t>Eventos válidos por tipo</a:t>
            </a:r>
          </a:p>
        </c:rich>
      </c:tx>
      <c:overlay val="0"/>
      <c:txPr>
        <a:bodyPr xmlns:a="http://schemas.openxmlformats.org/drawingml/2006/main" anchorCtr="1"/>
        <a:lstStyle xmlns:a="http://schemas.openxmlformats.org/drawingml/2006/main"/>
        <a:p xmlns:a="http://schemas.openxmlformats.org/drawingml/2006/main">
          <a:pPr>
            <a:defRPr sz="2000" b="1">
              <a:solidFill>
                <a:srgbClr val="102D44"/>
              </a:solidFill>
              <a:latin typeface="Arial"/>
              <a:ea typeface="Arial"/>
              <a:cs typeface="Arial"/>
            </a:defRPr>
          </a:pPr>
        </a:p>
      </c:txPr>
    </c:title>
    <c:plotArea>
      <c:barChart>
        <c:barDir val="bar"/>
        <c:varyColors val="0"/>
        <c:ser>
          <c:idx val="0"/>
          <c:order val="0"/>
          <c:tx>
            <c:v>Eventos</c:v>
          </c:tx>
          <c:spPr>
            <a:solidFill xmlns:a="http://schemas.openxmlformats.org/drawingml/2006/main">
              <a:srgbClr val="087F8C"/>
            </a:solidFill>
          </c:spPr>
          <c:cat>
            <c:strRef>
              <c:f>'Chart Data'!$A$2:$A$5</c:f>
              <c:strCache>
                <c:ptCount val="4"/>
                <c:pt idx="0">
                  <c:v>Creados</c:v>
                </c:pt>
                <c:pt idx="1">
                  <c:v>Pagados</c:v>
                </c:pt>
                <c:pt idx="2">
                  <c:v>Cancelados</c:v>
                </c:pt>
                <c:pt idx="3">
                  <c:v>Devueltos</c:v>
                </c:pt>
              </c:strCache>
            </c:strRef>
          </c:cat>
          <c:val>
            <c:numRef>
              <c:f>'Chart Data'!$B$2:$B$5</c:f>
              <c:numCache>
                <c:formatCode>General</c:formatCode>
                <c:ptCount val="4"/>
                <c:pt idx="0">
                  <c:v>15000</c:v>
                </c:pt>
                <c:pt idx="1">
                  <c:v>12800</c:v>
                </c:pt>
                <c:pt idx="2">
                  <c:v>1200</c:v>
                </c:pt>
                <c:pt idx="3">
                  <c:v>2000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00" b="1">
                  <a:solidFill>
                    <a:srgbClr val="102D44"/>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CE5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07483"/>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00">
                <a:solidFill>
                  <a:srgbClr val="263B4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44"/>
        </a:solidFill>
      </p:bgPr>
    </p:bg>
    <p:spTree>
      <p:nvGrpSpPr>
        <p:cNvPr id="1" name=""/>
        <p:cNvGrpSpPr/>
        <p:nvPr/>
      </p:nvGrpSpPr>
      <p:grpSpPr>
        <a:xfrm xmlns:a="http://schemas.openxmlformats.org/drawingml/2006/main"/>
      </p:grpSpPr>
      <p:sp>
        <p:nvSpPr>
          <p:cNvPr id="6" name="cover-label">
            <a:extLst xmlns:a="http://schemas.openxmlformats.org/drawingml/2006/main">
              <a:ext uri="{FF2B5EF4-FFF2-40B4-BE49-F238E27FC236}">
                <a16:creationId xmlns:a16="http://schemas.microsoft.com/office/drawing/2014/main" id="{23DCA12F-87FC-43C0-B123-6C8CD6BF601B}"/>
              </a:ext>
            </a:extLst>
          </p:cNvPr>
          <p:cNvSpPr>
            <a:spLocks xmlns:a="http://schemas.openxmlformats.org/drawingml/2006/main" noGrp="1"/>
          </p:cNvSpPr>
          <p:nvPr/>
        </p:nvSpPr>
        <p:spPr>
          <a:xfrm xmlns:a="http://schemas.openxmlformats.org/drawingml/2006/main">
            <a:off x="914400" y="10001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FDDE1"/>
                </a:solidFill>
                <a:latin typeface="Arial"/>
                <a:ea typeface="Arial"/>
                <a:cs typeface="Arial"/>
              </a:defRPr>
            </a:defPPr>
          </a:lstStyle>
          <a:p xmlns:a="http://schemas.openxmlformats.org/drawingml/2006/main">
            <a:pPr algn="l">
              <a:defRPr sz="1800" b="1">
                <a:solidFill>
                  <a:srgbClr val="9FDDE1"/>
                </a:solidFill>
                <a:latin typeface="Arial"/>
                <a:ea typeface="Arial"/>
                <a:cs typeface="Arial"/>
              </a:defRPr>
            </a:pPr>
            <a:r>
              <a:rPr sz="1800" b="1">
                <a:solidFill>
                  <a:srgbClr val="9FDDE1"/>
                </a:solidFill>
                <a:latin typeface="Arial"/>
                <a:ea typeface="Arial"/>
                <a:cs typeface="Arial"/>
              </a:rPr>
              <a:t>LCD301  PROYECTO INTEGRADOR</a:t>
            </a:r>
          </a:p>
        </p:txBody>
      </p:sp>
      <p:sp>
        <p:nvSpPr>
          <p:cNvPr id="2" name="cover-title">
            <a:extLst xmlns:a="http://schemas.openxmlformats.org/drawingml/2006/main">
              <a:ext uri="{FF2B5EF4-FFF2-40B4-BE49-F238E27FC236}">
                <a16:creationId xmlns:a16="http://schemas.microsoft.com/office/drawing/2014/main" id="{75B3EDAD-CE38-4C57-BA69-AE968FB81E32}"/>
              </a:ext>
            </a:extLst>
          </p:cNvPr>
          <p:cNvSpPr>
            <a:spLocks xmlns:a="http://schemas.openxmlformats.org/drawingml/2006/main" noGrp="1"/>
          </p:cNvSpPr>
          <p:nvPr/>
        </p:nvSpPr>
        <p:spPr>
          <a:xfrm xmlns:a="http://schemas.openxmlformats.org/drawingml/2006/main">
            <a:off x="914400" y="21907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Ventas, devoluciones</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y clientes</a:t>
            </a:r>
          </a:p>
        </p:txBody>
      </p:sp>
      <p:sp>
        <p:nvSpPr>
          <p:cNvPr id="3" name="cover-team">
            <a:extLst xmlns:a="http://schemas.openxmlformats.org/drawingml/2006/main">
              <a:ext uri="{FF2B5EF4-FFF2-40B4-BE49-F238E27FC236}">
                <a16:creationId xmlns:a16="http://schemas.microsoft.com/office/drawing/2014/main" id="{466B07B1-94D6-401C-9AC6-6A6D9EA33003}"/>
              </a:ext>
            </a:extLst>
          </p:cNvPr>
          <p:cNvSpPr>
            <a:spLocks xmlns:a="http://schemas.openxmlformats.org/drawingml/2006/main" noGrp="1"/>
          </p:cNvSpPr>
          <p:nvPr/>
        </p:nvSpPr>
        <p:spPr>
          <a:xfrm xmlns:a="http://schemas.openxmlformats.org/drawingml/2006/main">
            <a:off x="914400" y="4333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FFFFFF"/>
                </a:solidFill>
                <a:latin typeface="Arial"/>
                <a:ea typeface="Arial"/>
                <a:cs typeface="Arial"/>
              </a:defRPr>
            </a:defPPr>
          </a:lstStyle>
          <a:p xmlns:a="http://schemas.openxmlformats.org/drawingml/2006/main">
            <a:pPr algn="l">
              <a:defRPr sz="2800" b="0">
                <a:solidFill>
                  <a:srgbClr val="FFFFFF"/>
                </a:solidFill>
                <a:latin typeface="Arial"/>
                <a:ea typeface="Arial"/>
                <a:cs typeface="Arial"/>
              </a:defRPr>
            </a:pPr>
            <a:r>
              <a:rPr sz="2800" b="0">
                <a:solidFill>
                  <a:srgbClr val="FFFFFF"/>
                </a:solidFill>
                <a:latin typeface="Arial"/>
                <a:ea typeface="Arial"/>
                <a:cs typeface="Arial"/>
              </a:rPr>
              <a:t>Grupo A</a:t>
            </a:r>
          </a:p>
        </p:txBody>
      </p:sp>
      <p:sp>
        <p:nvSpPr>
          <p:cNvPr id="4" name="cover-status">
            <a:extLst xmlns:a="http://schemas.openxmlformats.org/drawingml/2006/main">
              <a:ext uri="{FF2B5EF4-FFF2-40B4-BE49-F238E27FC236}">
                <a16:creationId xmlns:a16="http://schemas.microsoft.com/office/drawing/2014/main" id="{793E0EE4-B1DB-4863-845D-51F2A5F0334D}"/>
              </a:ext>
            </a:extLst>
          </p:cNvPr>
          <p:cNvSpPr>
            <a:spLocks xmlns:a="http://schemas.openxmlformats.org/drawingml/2006/main" noGrp="1"/>
          </p:cNvSpPr>
          <p:nvPr/>
        </p:nvSpPr>
        <p:spPr>
          <a:xfrm xmlns:a="http://schemas.openxmlformats.org/drawingml/2006/main">
            <a:off x="914400" y="5524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BDD2DC"/>
                </a:solidFill>
                <a:latin typeface="Arial"/>
                <a:ea typeface="Arial"/>
                <a:cs typeface="Arial"/>
              </a:defRPr>
            </a:defPPr>
          </a:lstStyle>
          <a:p xmlns:a="http://schemas.openxmlformats.org/drawingml/2006/main">
            <a:pPr algn="l">
              <a:defRPr sz="1800" b="0">
                <a:solidFill>
                  <a:srgbClr val="BDD2DC"/>
                </a:solidFill>
                <a:latin typeface="Arial"/>
                <a:ea typeface="Arial"/>
                <a:cs typeface="Arial"/>
              </a:defRPr>
            </a:pPr>
            <a:r>
              <a:rPr sz="1800" b="0">
                <a:solidFill>
                  <a:srgbClr val="BDD2DC"/>
                </a:solidFill>
                <a:latin typeface="Arial"/>
                <a:ea typeface="Arial"/>
                <a:cs typeface="Arial"/>
              </a:rPr>
              <a:t>Implementación y resultados del laboratorio</a:t>
            </a:r>
          </a:p>
        </p:txBody>
      </p:sp>
      <p:sp>
        <p:nvSpPr>
          <p:cNvPr id="5" name="cover-date">
            <a:extLst xmlns:a="http://schemas.openxmlformats.org/drawingml/2006/main">
              <a:ext uri="{FF2B5EF4-FFF2-40B4-BE49-F238E27FC236}">
                <a16:creationId xmlns:a16="http://schemas.microsoft.com/office/drawing/2014/main" id="{D0046341-4B00-43C9-8364-43DBD6C587B0}"/>
              </a:ext>
            </a:extLst>
          </p:cNvPr>
          <p:cNvSpPr>
            <a:spLocks xmlns:a="http://schemas.openxmlformats.org/drawingml/2006/main" noGrp="1"/>
          </p:cNvSpPr>
          <p:nvPr/>
        </p:nvSpPr>
        <p:spPr>
          <a:xfrm xmlns:a="http://schemas.openxmlformats.org/drawingml/2006/main">
            <a:off x="914400" y="6038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00" b="0">
                <a:solidFill>
                  <a:srgbClr val="BDD2DC"/>
                </a:solidFill>
                <a:latin typeface="Arial"/>
                <a:ea typeface="Arial"/>
                <a:cs typeface="Arial"/>
              </a:defRPr>
            </a:defPPr>
          </a:lstStyle>
          <a:p xmlns:a="http://schemas.openxmlformats.org/drawingml/2006/main">
            <a:pPr algn="l">
              <a:defRPr sz="1600" b="0">
                <a:solidFill>
                  <a:srgbClr val="BDD2DC"/>
                </a:solidFill>
                <a:latin typeface="Arial"/>
                <a:ea typeface="Arial"/>
                <a:cs typeface="Arial"/>
              </a:defRPr>
            </a:pPr>
            <a:r>
              <a:rPr sz="1600" b="0">
                <a:solidFill>
                  <a:srgbClr val="BDD2DC"/>
                </a:solidFill>
                <a:latin typeface="Arial"/>
                <a:ea typeface="Arial"/>
                <a:cs typeface="Arial"/>
              </a:rPr>
              <a:t>9 de octubre de 2026</a:t>
            </a:r>
          </a:p>
        </p:txBody>
      </p:sp>
    </p:spTree>
    <p:extLst>
      <p:ext uri="{BB962C8B-B14F-4D97-AF65-F5344CB8AC3E}">
        <p14:creationId xmlns:p14="http://schemas.microsoft.com/office/powerpoint/2010/main" val="18322958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83E97D5-F6CD-42A5-996F-210D6DB7791F}"/>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Objetivo y cobertura técnica</a:t>
            </a:r>
          </a:p>
        </p:txBody>
      </p:sp>
      <p:sp>
        <p:nvSpPr>
          <p:cNvPr id="2" name="footer">
            <a:extLst xmlns:a="http://schemas.openxmlformats.org/drawingml/2006/main">
              <a:ext uri="{FF2B5EF4-FFF2-40B4-BE49-F238E27FC236}">
                <a16:creationId xmlns:a16="http://schemas.microsoft.com/office/drawing/2014/main" id="{28DFFBB9-B957-42E7-8335-99644B6C886F}"/>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2/10</a:t>
            </a:r>
          </a:p>
        </p:txBody>
      </p:sp>
      <p:sp>
        <p:nvSpPr>
          <p:cNvPr id="3" name="objective">
            <a:extLst xmlns:a="http://schemas.openxmlformats.org/drawingml/2006/main">
              <a:ext uri="{FF2B5EF4-FFF2-40B4-BE49-F238E27FC236}">
                <a16:creationId xmlns:a16="http://schemas.microsoft.com/office/drawing/2014/main" id="{4886C999-E8D9-4A9E-A4E7-436EEFEE1236}"/>
              </a:ext>
            </a:extLst>
          </p:cNvPr>
          <p:cNvSpPr>
            <a:spLocks xmlns:a="http://schemas.openxmlformats.org/drawingml/2006/main" noGrp="1"/>
          </p:cNvSpPr>
          <p:nvPr/>
        </p:nvSpPr>
        <p:spPr>
          <a:xfrm xmlns:a="http://schemas.openxmlformats.org/drawingml/2006/main">
            <a:off x="685800" y="13525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Trazar cada venta y devolución desde su fuente hasta los indicadores de negocio</a:t>
            </a:r>
          </a:p>
        </p:txBody>
      </p:sp>
      <p:graphicFrame>
        <p:nvGraphicFramePr>
          <p:cNvPr id="4" name="">
            <a:extLst xmlns:a="http://schemas.openxmlformats.org/drawingml/2006/main">
              <a:ext uri="{FF2B5EF4-FFF2-40B4-BE49-F238E27FC236}">
                <a16:creationId xmlns:a16="http://schemas.microsoft.com/office/drawing/2014/main" id="{94B8B01D-56FC-498C-84D4-892386015DAE}"/>
              </a:ext>
            </a:extLst>
          </p:cNvPr>
          <p:cNvGraphicFramePr/>
          <p:nvPr/>
        </p:nvGraphicFramePr>
        <p:xfrm>
          <a:off xmlns:a="http://schemas.openxmlformats.org/drawingml/2006/main" x="685800" y="2324100"/>
          <a:ext xmlns:a="http://schemas.openxmlformats.org/drawingml/2006/main" cx="10820400" cy="3543300"/>
        </p:xfrm>
        <a:graphic xmlns:a="http://schemas.openxmlformats.org/drawingml/2006/main">
          <a:graphicData uri="http://schemas.openxmlformats.org/drawingml/2006/table">
            <a:tbl>
              <a:tblPr/>
              <a:tblGrid>
                <a:gridCol w="2476500"/>
                <a:gridCol w="1190625"/>
                <a:gridCol w="7153275"/>
              </a:tblGrid>
              <a:tr h="590550">
                <a:tc>
                  <a:txBody>
                    <a:bodyPr lIns="133350" tIns="114300" rIns="133350" bIns="95250"/>
                    <a:lstStyle/>
                    <a:p>
                      <a:pPr algn="l"/>
                      <a:r>
                        <a:rPr sz="1800" b="1">
                          <a:solidFill>
                            <a:srgbClr val="FFFFFF"/>
                          </a:solidFill>
                          <a:latin typeface="Arial"/>
                          <a:ea typeface="Arial"/>
                          <a:cs typeface="Arial"/>
                        </a:rPr>
                        <a:t>Capa</a:t>
                      </a:r>
                    </a:p>
                  </a:txBody>
                  <a:tcPr marL="91440" marR="91440" marT="45720" marB="45720">
                    <a:solidFill>
                      <a:srgbClr val="102D44"/>
                    </a:solidFill>
                  </a:tcPr>
                </a:tc>
                <a:tc>
                  <a:txBody>
                    <a:bodyPr lIns="133350" tIns="114300" rIns="133350" bIns="95250"/>
                    <a:lstStyle/>
                    <a:p>
                      <a:pPr algn="l"/>
                      <a:r>
                        <a:rPr sz="1800" b="1">
                          <a:solidFill>
                            <a:srgbClr val="FFFFFF"/>
                          </a:solidFill>
                          <a:latin typeface="Arial"/>
                          <a:ea typeface="Arial"/>
                          <a:cs typeface="Arial"/>
                        </a:rPr>
                        <a:t>Peso</a:t>
                      </a:r>
                    </a:p>
                  </a:txBody>
                  <a:tcPr marL="91440" marR="91440" marT="45720" marB="45720">
                    <a:solidFill>
                      <a:srgbClr val="102D44"/>
                    </a:solidFill>
                  </a:tcPr>
                </a:tc>
                <a:tc>
                  <a:txBody>
                    <a:bodyPr lIns="133350" tIns="114300" rIns="133350" bIns="95250"/>
                    <a:lstStyle/>
                    <a:p>
                      <a:pPr algn="l"/>
                      <a:r>
                        <a:rPr sz="1800" b="1">
                          <a:solidFill>
                            <a:srgbClr val="FFFFFF"/>
                          </a:solidFill>
                          <a:latin typeface="Arial"/>
                          <a:ea typeface="Arial"/>
                          <a:cs typeface="Arial"/>
                        </a:rPr>
                        <a:t>Implementación</a:t>
                      </a:r>
                    </a:p>
                  </a:txBody>
                  <a:tcPr marL="91440" marR="91440" marT="45720" marB="45720">
                    <a:solidFill>
                      <a:srgbClr val="102D44"/>
                    </a:solidFill>
                  </a:tcPr>
                </a:tc>
              </a:tr>
              <a:tr h="590550">
                <a:tc>
                  <a:txBody>
                    <a:bodyPr lIns="133350" tIns="114300" rIns="133350" bIns="95250"/>
                    <a:lstStyle/>
                    <a:p>
                      <a:pPr algn="l"/>
                      <a:r>
                        <a:rPr sz="1800" b="0">
                          <a:solidFill>
                            <a:srgbClr val="263B4A"/>
                          </a:solidFill>
                          <a:latin typeface="Arial"/>
                          <a:ea typeface="Arial"/>
                          <a:cs typeface="Arial"/>
                        </a:rPr>
                        <a:t>Ingesta</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20%</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NiFi consulta la API y recibe el catálogo CSV</a:t>
                      </a:r>
                    </a:p>
                  </a:txBody>
                  <a:tcPr marL="91440" marR="91440" marT="45720" marB="45720">
                    <a:solidFill>
                      <a:srgbClr val="FFFFFF"/>
                    </a:solidFill>
                  </a:tcPr>
                </a:tc>
              </a:tr>
              <a:tr h="590550">
                <a:tc>
                  <a:txBody>
                    <a:bodyPr lIns="133350" tIns="114300" rIns="133350" bIns="95250"/>
                    <a:lstStyle/>
                    <a:p>
                      <a:pPr algn="l"/>
                      <a:r>
                        <a:rPr sz="1800" b="0">
                          <a:solidFill>
                            <a:srgbClr val="263B4A"/>
                          </a:solidFill>
                          <a:latin typeface="Arial"/>
                          <a:ea typeface="Arial"/>
                          <a:cs typeface="Arial"/>
                        </a:rPr>
                        <a:t>Procesamiento</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25%</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Spark limpia, enriquece y agrega por lote</a:t>
                      </a:r>
                    </a:p>
                  </a:txBody>
                  <a:tcPr marL="91440" marR="91440" marT="45720" marB="45720">
                    <a:solidFill>
                      <a:srgbClr val="EDF4F6"/>
                    </a:solidFill>
                  </a:tcPr>
                </a:tc>
              </a:tr>
              <a:tr h="590550">
                <a:tc>
                  <a:txBody>
                    <a:bodyPr lIns="133350" tIns="114300" rIns="133350" bIns="95250"/>
                    <a:lstStyle/>
                    <a:p>
                      <a:pPr algn="l"/>
                      <a:r>
                        <a:rPr sz="1800" b="0">
                          <a:solidFill>
                            <a:srgbClr val="263B4A"/>
                          </a:solidFill>
                          <a:latin typeface="Arial"/>
                          <a:ea typeface="Arial"/>
                          <a:cs typeface="Arial"/>
                        </a:rPr>
                        <a:t>Almacenamiento</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20%</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PostgreSQL particiona hechos por mes</a:t>
                      </a:r>
                    </a:p>
                  </a:txBody>
                  <a:tcPr marL="91440" marR="91440" marT="45720" marB="45720">
                    <a:solidFill>
                      <a:srgbClr val="FFFFFF"/>
                    </a:solidFill>
                  </a:tcPr>
                </a:tc>
              </a:tr>
              <a:tr h="590550">
                <a:tc>
                  <a:txBody>
                    <a:bodyPr lIns="133350" tIns="114300" rIns="133350" bIns="95250"/>
                    <a:lstStyle/>
                    <a:p>
                      <a:pPr algn="l"/>
                      <a:r>
                        <a:rPr sz="1800" b="0">
                          <a:solidFill>
                            <a:srgbClr val="263B4A"/>
                          </a:solidFill>
                          <a:latin typeface="Arial"/>
                          <a:ea typeface="Arial"/>
                          <a:cs typeface="Arial"/>
                        </a:rPr>
                        <a:t>Análisis</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20%</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Seis consultas SQL con tiempos de ejecución</a:t>
                      </a:r>
                    </a:p>
                  </a:txBody>
                  <a:tcPr marL="91440" marR="91440" marT="45720" marB="45720">
                    <a:solidFill>
                      <a:srgbClr val="EDF4F6"/>
                    </a:solidFill>
                  </a:tcPr>
                </a:tc>
              </a:tr>
              <a:tr h="590550">
                <a:tc>
                  <a:txBody>
                    <a:bodyPr lIns="133350" tIns="114300" rIns="133350" bIns="95250"/>
                    <a:lstStyle/>
                    <a:p>
                      <a:pPr algn="l"/>
                      <a:r>
                        <a:rPr sz="1800" b="0">
                          <a:solidFill>
                            <a:srgbClr val="263B4A"/>
                          </a:solidFill>
                          <a:latin typeface="Arial"/>
                          <a:ea typeface="Arial"/>
                          <a:cs typeface="Arial"/>
                        </a:rPr>
                        <a:t>Visualización</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15%</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Dash presenta operación y negocio</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178408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8B344D5B-2FBD-448F-9DB1-F05C505D70CE}"/>
              </a:ext>
            </a:extLst>
          </p:cNvPr>
          <p:cNvCxnSpPr>
            <a:stCxn xmlns:a="http://schemas.openxmlformats.org/drawingml/2006/main" id="8" idx="3"/>
            <a:endCxn xmlns:a="http://schemas.openxmlformats.org/drawingml/2006/main" id="9" idx="1"/>
          </p:cNvCxnSpPr>
          <p:nvPr/>
        </p:nvCxnSpPr>
        <p:spPr>
          <a:xfrm xmlns:a="http://schemas.openxmlformats.org/drawingml/2006/main">
            <a:off x="9486900" y="3714750"/>
            <a:ext cx="571500" cy="0"/>
          </a:xfrm>
          <a:prstGeom xmlns:a="http://schemas.openxmlformats.org/drawingml/2006/main" prst="straightConnector1">
            <a:avLst/>
          </a:prstGeom>
          <a:ln xmlns:a="http://schemas.openxmlformats.org/drawingml/2006/main" w="19050">
            <a:solidFill>
              <a:srgbClr val="087F8C"/>
            </a:solidFill>
            <a:tailEnd type="arrow" w="sm" len="sm"/>
          </a:ln>
        </p:spPr>
      </p:cxnSp>
      <p:cxnSp>
        <p:nvCxnSpPr>
          <p:cNvPr id="13" name="">
            <a:extLst xmlns:a="http://schemas.openxmlformats.org/drawingml/2006/main">
              <a:ext uri="{FF2B5EF4-FFF2-40B4-BE49-F238E27FC236}">
                <a16:creationId xmlns:a16="http://schemas.microsoft.com/office/drawing/2014/main" id="{7568781F-24E6-4E41-9286-983A2CDF3761}"/>
              </a:ext>
            </a:extLst>
          </p:cNvPr>
          <p:cNvCxnSpPr>
            <a:stCxn xmlns:a="http://schemas.openxmlformats.org/drawingml/2006/main" id="7" idx="3"/>
            <a:endCxn xmlns:a="http://schemas.openxmlformats.org/drawingml/2006/main" id="8" idx="1"/>
          </p:cNvCxnSpPr>
          <p:nvPr/>
        </p:nvCxnSpPr>
        <p:spPr>
          <a:xfrm xmlns:a="http://schemas.openxmlformats.org/drawingml/2006/main">
            <a:off x="7181850" y="3714750"/>
            <a:ext cx="590550" cy="0"/>
          </a:xfrm>
          <a:prstGeom xmlns:a="http://schemas.openxmlformats.org/drawingml/2006/main" prst="straightConnector1">
            <a:avLst/>
          </a:prstGeom>
          <a:ln xmlns:a="http://schemas.openxmlformats.org/drawingml/2006/main" w="19050">
            <a:solidFill>
              <a:srgbClr val="087F8C"/>
            </a:solidFill>
            <a:tailEnd type="arrow" w="sm" len="sm"/>
          </a:ln>
        </p:spPr>
      </p:cxnSp>
      <p:cxnSp>
        <p:nvCxnSpPr>
          <p:cNvPr id="12" name="">
            <a:extLst xmlns:a="http://schemas.openxmlformats.org/drawingml/2006/main">
              <a:ext uri="{FF2B5EF4-FFF2-40B4-BE49-F238E27FC236}">
                <a16:creationId xmlns:a16="http://schemas.microsoft.com/office/drawing/2014/main" id="{C670B944-A74C-4F2C-BAB4-7C08189A031E}"/>
              </a:ext>
            </a:extLst>
          </p:cNvPr>
          <p:cNvCxnSpPr>
            <a:stCxn xmlns:a="http://schemas.openxmlformats.org/drawingml/2006/main" id="6" idx="3"/>
            <a:endCxn xmlns:a="http://schemas.openxmlformats.org/drawingml/2006/main" id="7" idx="1"/>
          </p:cNvCxnSpPr>
          <p:nvPr/>
        </p:nvCxnSpPr>
        <p:spPr>
          <a:xfrm xmlns:a="http://schemas.openxmlformats.org/drawingml/2006/main">
            <a:off x="4876800" y="3714750"/>
            <a:ext cx="590550" cy="0"/>
          </a:xfrm>
          <a:prstGeom xmlns:a="http://schemas.openxmlformats.org/drawingml/2006/main" prst="straightConnector1">
            <a:avLst/>
          </a:prstGeom>
          <a:ln xmlns:a="http://schemas.openxmlformats.org/drawingml/2006/main" w="19050">
            <a:solidFill>
              <a:srgbClr val="087F8C"/>
            </a:solidFill>
            <a:tailEnd type="arrow" w="sm" len="sm"/>
          </a:ln>
        </p:spPr>
      </p:cxnSp>
      <p:cxnSp>
        <p:nvCxnSpPr>
          <p:cNvPr id="11" name="">
            <a:extLst xmlns:a="http://schemas.openxmlformats.org/drawingml/2006/main">
              <a:ext uri="{FF2B5EF4-FFF2-40B4-BE49-F238E27FC236}">
                <a16:creationId xmlns:a16="http://schemas.microsoft.com/office/drawing/2014/main" id="{5CD2CA2D-BA9E-4A10-95E9-C10B6A4EDC42}"/>
              </a:ext>
            </a:extLst>
          </p:cNvPr>
          <p:cNvCxnSpPr>
            <a:stCxn xmlns:a="http://schemas.openxmlformats.org/drawingml/2006/main" id="5" idx="3"/>
            <a:endCxn xmlns:a="http://schemas.openxmlformats.org/drawingml/2006/main" id="6" idx="1"/>
          </p:cNvCxnSpPr>
          <p:nvPr/>
        </p:nvCxnSpPr>
        <p:spPr>
          <a:xfrm xmlns:a="http://schemas.openxmlformats.org/drawingml/2006/main" flipV="1">
            <a:off x="2495550" y="3714750"/>
            <a:ext cx="666750" cy="809625"/>
          </a:xfrm>
          <a:prstGeom xmlns:a="http://schemas.openxmlformats.org/drawingml/2006/main" prst="bentConnector3">
            <a:avLst>
              <a:gd name="adj1" fmla="val 50000"/>
            </a:avLst>
          </a:prstGeom>
          <a:ln xmlns:a="http://schemas.openxmlformats.org/drawingml/2006/main" w="19050">
            <a:solidFill>
              <a:srgbClr val="087F8C"/>
            </a:solidFill>
            <a:tailEnd type="arrow" w="sm" len="sm"/>
          </a:ln>
        </p:spPr>
      </p:cxnSp>
      <p:cxnSp>
        <p:nvCxnSpPr>
          <p:cNvPr id="10" name="">
            <a:extLst xmlns:a="http://schemas.openxmlformats.org/drawingml/2006/main">
              <a:ext uri="{FF2B5EF4-FFF2-40B4-BE49-F238E27FC236}">
                <a16:creationId xmlns:a16="http://schemas.microsoft.com/office/drawing/2014/main" id="{4A622180-7AC4-450D-964C-D0613273F4D6}"/>
              </a:ext>
            </a:extLst>
          </p:cNvPr>
          <p:cNvCxnSpPr>
            <a:stCxn xmlns:a="http://schemas.openxmlformats.org/drawingml/2006/main" id="4" idx="3"/>
            <a:endCxn xmlns:a="http://schemas.openxmlformats.org/drawingml/2006/main" id="6" idx="1"/>
          </p:cNvCxnSpPr>
          <p:nvPr/>
        </p:nvCxnSpPr>
        <p:spPr>
          <a:xfrm xmlns:a="http://schemas.openxmlformats.org/drawingml/2006/main">
            <a:off x="2495550" y="2905125"/>
            <a:ext cx="666750" cy="809625"/>
          </a:xfrm>
          <a:prstGeom xmlns:a="http://schemas.openxmlformats.org/drawingml/2006/main" prst="bentConnector3">
            <a:avLst>
              <a:gd name="adj1" fmla="val 50000"/>
            </a:avLst>
          </a:prstGeom>
          <a:ln xmlns:a="http://schemas.openxmlformats.org/drawingml/2006/main" w="19050">
            <a:solidFill>
              <a:srgbClr val="087F8C"/>
            </a:solidFill>
            <a:tailEnd type="arrow" w="sm" len="sm"/>
          </a:ln>
        </p:spPr>
      </p:cxnSp>
      <p:sp>
        <p:nvSpPr>
          <p:cNvPr id="17" name="slide-title">
            <a:extLst xmlns:a="http://schemas.openxmlformats.org/drawingml/2006/main">
              <a:ext uri="{FF2B5EF4-FFF2-40B4-BE49-F238E27FC236}">
                <a16:creationId xmlns:a16="http://schemas.microsoft.com/office/drawing/2014/main" id="{BE14AF97-16F7-4B21-8044-C617043BFE3B}"/>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Arquitectura de cinco capas</a:t>
            </a:r>
          </a:p>
        </p:txBody>
      </p:sp>
      <p:sp>
        <p:nvSpPr>
          <p:cNvPr id="2" name="footer">
            <a:extLst xmlns:a="http://schemas.openxmlformats.org/drawingml/2006/main">
              <a:ext uri="{FF2B5EF4-FFF2-40B4-BE49-F238E27FC236}">
                <a16:creationId xmlns:a16="http://schemas.microsoft.com/office/drawing/2014/main" id="{9D1964AE-DA61-4178-AD13-3F6CD042856A}"/>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3/10</a:t>
            </a:r>
          </a:p>
        </p:txBody>
      </p:sp>
      <p:sp>
        <p:nvSpPr>
          <p:cNvPr id="3" name="architecture-intro">
            <a:extLst xmlns:a="http://schemas.openxmlformats.org/drawingml/2006/main">
              <a:ext uri="{FF2B5EF4-FFF2-40B4-BE49-F238E27FC236}">
                <a16:creationId xmlns:a16="http://schemas.microsoft.com/office/drawing/2014/main" id="{E12AAB78-946F-47D8-ABB1-451194AF535B}"/>
              </a:ext>
            </a:extLst>
          </p:cNvPr>
          <p:cNvSpPr>
            <a:spLocks xmlns:a="http://schemas.openxmlformats.org/drawingml/2006/main" noGrp="1"/>
          </p:cNvSpPr>
          <p:nvPr/>
        </p:nvSpPr>
        <p:spPr>
          <a:xfrm xmlns:a="http://schemas.openxmlformats.org/drawingml/2006/main">
            <a:off x="685800" y="13525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1">
                <a:solidFill>
                  <a:srgbClr val="087F8C"/>
                </a:solidFill>
                <a:latin typeface="Arial"/>
                <a:ea typeface="Arial"/>
                <a:cs typeface="Arial"/>
              </a:defRPr>
            </a:defPPr>
          </a:lstStyle>
          <a:p xmlns:a="http://schemas.openxmlformats.org/drawingml/2006/main">
            <a:pPr algn="l">
              <a:defRPr sz="2200" b="1">
                <a:solidFill>
                  <a:srgbClr val="087F8C"/>
                </a:solidFill>
                <a:latin typeface="Arial"/>
                <a:ea typeface="Arial"/>
                <a:cs typeface="Arial"/>
              </a:defRPr>
            </a:pPr>
            <a:r>
              <a:rPr sz="2200" b="1">
                <a:solidFill>
                  <a:srgbClr val="087F8C"/>
                </a:solidFill>
                <a:latin typeface="Arial"/>
                <a:ea typeface="Arial"/>
                <a:cs typeface="Arial"/>
              </a:rPr>
              <a:t>Dos orígenes distintos alimentan un mismo lote trazable</a:t>
            </a:r>
          </a:p>
        </p:txBody>
      </p:sp>
      <p:sp>
        <p:nvSpPr>
          <p:cNvPr id="4" name="architecture-REST">
            <a:extLst xmlns:a="http://schemas.openxmlformats.org/drawingml/2006/main">
              <a:ext uri="{FF2B5EF4-FFF2-40B4-BE49-F238E27FC236}">
                <a16:creationId xmlns:a16="http://schemas.microsoft.com/office/drawing/2014/main" id="{BBBD300D-7401-4CC6-8763-2591D25F24FE}"/>
              </a:ext>
            </a:extLst>
          </p:cNvPr>
          <p:cNvSpPr>
            <a:spLocks xmlns:a="http://schemas.openxmlformats.org/drawingml/2006/main" noGrp="1"/>
          </p:cNvSpPr>
          <p:nvPr/>
        </p:nvSpPr>
        <p:spPr>
          <a:xfrm xmlns:a="http://schemas.openxmlformats.org/drawingml/2006/main">
            <a:off x="685800" y="2476500"/>
            <a:ext cx="1809750" cy="857250"/>
          </a:xfrm>
          <a:prstGeom xmlns:a="http://schemas.openxmlformats.org/drawingml/2006/main" prst="rect">
            <a:avLst/>
          </a:prstGeom>
          <a:solidFill xmlns:a="http://schemas.openxmlformats.org/drawingml/2006/main">
            <a:srgbClr val="EDF4F6"/>
          </a:solidFill>
          <a:ln xmlns:a="http://schemas.openxmlformats.org/drawingml/2006/main" w="19050">
            <a:solidFill>
              <a:srgbClr val="087F8C"/>
            </a:solidFill>
          </a:ln>
        </p:spPr>
        <p:txBody>
          <a:bodyPr xmlns:a="http://schemas.openxmlformats.org/drawingml/2006/main" lIns="95250" tIns="95250" rIns="95250" bIns="95250" anchor="ctr"/>
          <a:lstStyle xmlns:a="http://schemas.openxmlformats.org/drawingml/2006/main">
            <a:defPPr algn="ctr">
              <a:defRPr sz="1800" b="1">
                <a:solidFill>
                  <a:srgbClr val="102D44"/>
                </a:solidFill>
                <a:latin typeface="Arial"/>
                <a:ea typeface="Arial"/>
                <a:cs typeface="Arial"/>
              </a:defRPr>
            </a:defPPr>
          </a:lstStyle>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API REST</a:t>
            </a:r>
          </a:p>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Eventos JSON</a:t>
            </a:r>
          </a:p>
        </p:txBody>
      </p:sp>
      <p:sp>
        <p:nvSpPr>
          <p:cNvPr id="5" name="architecture-CSV">
            <a:extLst xmlns:a="http://schemas.openxmlformats.org/drawingml/2006/main">
              <a:ext uri="{FF2B5EF4-FFF2-40B4-BE49-F238E27FC236}">
                <a16:creationId xmlns:a16="http://schemas.microsoft.com/office/drawing/2014/main" id="{1FD4D6DD-C7E6-4816-B89C-B17CE2BD6924}"/>
              </a:ext>
            </a:extLst>
          </p:cNvPr>
          <p:cNvSpPr>
            <a:spLocks xmlns:a="http://schemas.openxmlformats.org/drawingml/2006/main" noGrp="1"/>
          </p:cNvSpPr>
          <p:nvPr/>
        </p:nvSpPr>
        <p:spPr>
          <a:xfrm xmlns:a="http://schemas.openxmlformats.org/drawingml/2006/main">
            <a:off x="685800" y="4095750"/>
            <a:ext cx="1809750" cy="857250"/>
          </a:xfrm>
          <a:prstGeom xmlns:a="http://schemas.openxmlformats.org/drawingml/2006/main" prst="rect">
            <a:avLst/>
          </a:prstGeom>
          <a:solidFill xmlns:a="http://schemas.openxmlformats.org/drawingml/2006/main">
            <a:srgbClr val="EDF4F6"/>
          </a:solidFill>
          <a:ln xmlns:a="http://schemas.openxmlformats.org/drawingml/2006/main" w="19050">
            <a:solidFill>
              <a:srgbClr val="087F8C"/>
            </a:solidFill>
          </a:ln>
        </p:spPr>
        <p:txBody>
          <a:bodyPr xmlns:a="http://schemas.openxmlformats.org/drawingml/2006/main" lIns="95250" tIns="95250" rIns="95250" bIns="95250" anchor="ctr"/>
          <a:lstStyle xmlns:a="http://schemas.openxmlformats.org/drawingml/2006/main">
            <a:defPPr algn="ctr">
              <a:defRPr sz="1800" b="1">
                <a:solidFill>
                  <a:srgbClr val="102D44"/>
                </a:solidFill>
                <a:latin typeface="Arial"/>
                <a:ea typeface="Arial"/>
                <a:cs typeface="Arial"/>
              </a:defRPr>
            </a:defPPr>
          </a:lstStyle>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CSV por lote</a:t>
            </a:r>
          </a:p>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Catálogo</a:t>
            </a:r>
          </a:p>
        </p:txBody>
      </p:sp>
      <p:sp>
        <p:nvSpPr>
          <p:cNvPr id="6" name="architecture-NiFi">
            <a:extLst xmlns:a="http://schemas.openxmlformats.org/drawingml/2006/main">
              <a:ext uri="{FF2B5EF4-FFF2-40B4-BE49-F238E27FC236}">
                <a16:creationId xmlns:a16="http://schemas.microsoft.com/office/drawing/2014/main" id="{0146041D-44BC-4AEA-8F40-1C6BDB6A28F1}"/>
              </a:ext>
            </a:extLst>
          </p:cNvPr>
          <p:cNvSpPr>
            <a:spLocks xmlns:a="http://schemas.openxmlformats.org/drawingml/2006/main" noGrp="1"/>
          </p:cNvSpPr>
          <p:nvPr/>
        </p:nvSpPr>
        <p:spPr>
          <a:xfrm xmlns:a="http://schemas.openxmlformats.org/drawingml/2006/main">
            <a:off x="3162300" y="3286125"/>
            <a:ext cx="1714500" cy="857250"/>
          </a:xfrm>
          <a:prstGeom xmlns:a="http://schemas.openxmlformats.org/drawingml/2006/main" prst="rect">
            <a:avLst/>
          </a:prstGeom>
          <a:solidFill xmlns:a="http://schemas.openxmlformats.org/drawingml/2006/main">
            <a:srgbClr val="EDF4F6"/>
          </a:solidFill>
          <a:ln xmlns:a="http://schemas.openxmlformats.org/drawingml/2006/main" w="19050">
            <a:solidFill>
              <a:srgbClr val="087F8C"/>
            </a:solidFill>
          </a:ln>
        </p:spPr>
        <p:txBody>
          <a:bodyPr xmlns:a="http://schemas.openxmlformats.org/drawingml/2006/main" lIns="95250" tIns="95250" rIns="95250" bIns="95250" anchor="ctr"/>
          <a:lstStyle xmlns:a="http://schemas.openxmlformats.org/drawingml/2006/main">
            <a:defPPr algn="ctr">
              <a:defRPr sz="1800" b="1">
                <a:solidFill>
                  <a:srgbClr val="102D44"/>
                </a:solidFill>
                <a:latin typeface="Arial"/>
                <a:ea typeface="Arial"/>
                <a:cs typeface="Arial"/>
              </a:defRPr>
            </a:defPPr>
          </a:lstStyle>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Apache NiFi</a:t>
            </a:r>
          </a:p>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Ingesta</a:t>
            </a:r>
          </a:p>
        </p:txBody>
      </p:sp>
      <p:sp>
        <p:nvSpPr>
          <p:cNvPr id="7" name="architecture-Spark">
            <a:extLst xmlns:a="http://schemas.openxmlformats.org/drawingml/2006/main">
              <a:ext uri="{FF2B5EF4-FFF2-40B4-BE49-F238E27FC236}">
                <a16:creationId xmlns:a16="http://schemas.microsoft.com/office/drawing/2014/main" id="{968E8C75-22BA-4385-9454-EB7C70468707}"/>
              </a:ext>
            </a:extLst>
          </p:cNvPr>
          <p:cNvSpPr>
            <a:spLocks xmlns:a="http://schemas.openxmlformats.org/drawingml/2006/main" noGrp="1"/>
          </p:cNvSpPr>
          <p:nvPr/>
        </p:nvSpPr>
        <p:spPr>
          <a:xfrm xmlns:a="http://schemas.openxmlformats.org/drawingml/2006/main">
            <a:off x="5467350" y="3286125"/>
            <a:ext cx="1714500" cy="857250"/>
          </a:xfrm>
          <a:prstGeom xmlns:a="http://schemas.openxmlformats.org/drawingml/2006/main" prst="rect">
            <a:avLst/>
          </a:prstGeom>
          <a:solidFill xmlns:a="http://schemas.openxmlformats.org/drawingml/2006/main">
            <a:srgbClr val="EDF4F6"/>
          </a:solidFill>
          <a:ln xmlns:a="http://schemas.openxmlformats.org/drawingml/2006/main" w="19050">
            <a:solidFill>
              <a:srgbClr val="087F8C"/>
            </a:solidFill>
          </a:ln>
        </p:spPr>
        <p:txBody>
          <a:bodyPr xmlns:a="http://schemas.openxmlformats.org/drawingml/2006/main" lIns="95250" tIns="95250" rIns="95250" bIns="95250" anchor="ctr"/>
          <a:lstStyle xmlns:a="http://schemas.openxmlformats.org/drawingml/2006/main">
            <a:defPPr algn="ctr">
              <a:defRPr sz="1800" b="1">
                <a:solidFill>
                  <a:srgbClr val="102D44"/>
                </a:solidFill>
                <a:latin typeface="Arial"/>
                <a:ea typeface="Arial"/>
                <a:cs typeface="Arial"/>
              </a:defRPr>
            </a:defPPr>
          </a:lstStyle>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Apache Spark</a:t>
            </a:r>
          </a:p>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Batch</a:t>
            </a:r>
          </a:p>
        </p:txBody>
      </p:sp>
      <p:sp>
        <p:nvSpPr>
          <p:cNvPr id="8" name="architecture-PostgreSQL">
            <a:extLst xmlns:a="http://schemas.openxmlformats.org/drawingml/2006/main">
              <a:ext uri="{FF2B5EF4-FFF2-40B4-BE49-F238E27FC236}">
                <a16:creationId xmlns:a16="http://schemas.microsoft.com/office/drawing/2014/main" id="{C6EF308E-2DB5-47D2-96C2-C5A3F5830820}"/>
              </a:ext>
            </a:extLst>
          </p:cNvPr>
          <p:cNvSpPr>
            <a:spLocks xmlns:a="http://schemas.openxmlformats.org/drawingml/2006/main" noGrp="1"/>
          </p:cNvSpPr>
          <p:nvPr/>
        </p:nvSpPr>
        <p:spPr>
          <a:xfrm xmlns:a="http://schemas.openxmlformats.org/drawingml/2006/main">
            <a:off x="7772400" y="3286125"/>
            <a:ext cx="1714500" cy="857250"/>
          </a:xfrm>
          <a:prstGeom xmlns:a="http://schemas.openxmlformats.org/drawingml/2006/main" prst="rect">
            <a:avLst/>
          </a:prstGeom>
          <a:solidFill xmlns:a="http://schemas.openxmlformats.org/drawingml/2006/main">
            <a:srgbClr val="EDF4F6"/>
          </a:solidFill>
          <a:ln xmlns:a="http://schemas.openxmlformats.org/drawingml/2006/main" w="19050">
            <a:solidFill>
              <a:srgbClr val="087F8C"/>
            </a:solidFill>
          </a:ln>
        </p:spPr>
        <p:txBody>
          <a:bodyPr xmlns:a="http://schemas.openxmlformats.org/drawingml/2006/main" lIns="95250" tIns="95250" rIns="95250" bIns="95250" anchor="ctr"/>
          <a:lstStyle xmlns:a="http://schemas.openxmlformats.org/drawingml/2006/main">
            <a:defPPr algn="ctr">
              <a:defRPr sz="1800" b="1">
                <a:solidFill>
                  <a:srgbClr val="102D44"/>
                </a:solidFill>
                <a:latin typeface="Arial"/>
                <a:ea typeface="Arial"/>
                <a:cs typeface="Arial"/>
              </a:defRPr>
            </a:defPPr>
          </a:lstStyle>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PostgreSQL</a:t>
            </a:r>
          </a:p>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Hechos SQL</a:t>
            </a:r>
          </a:p>
        </p:txBody>
      </p:sp>
      <p:sp>
        <p:nvSpPr>
          <p:cNvPr id="9" name="architecture-Dash">
            <a:extLst xmlns:a="http://schemas.openxmlformats.org/drawingml/2006/main">
              <a:ext uri="{FF2B5EF4-FFF2-40B4-BE49-F238E27FC236}">
                <a16:creationId xmlns:a16="http://schemas.microsoft.com/office/drawing/2014/main" id="{8963CCEA-C9B4-4509-B3C4-DD3DF557CFC8}"/>
              </a:ext>
            </a:extLst>
          </p:cNvPr>
          <p:cNvSpPr>
            <a:spLocks xmlns:a="http://schemas.openxmlformats.org/drawingml/2006/main" noGrp="1"/>
          </p:cNvSpPr>
          <p:nvPr/>
        </p:nvSpPr>
        <p:spPr>
          <a:xfrm xmlns:a="http://schemas.openxmlformats.org/drawingml/2006/main">
            <a:off x="10058400" y="3286125"/>
            <a:ext cx="1714500" cy="857250"/>
          </a:xfrm>
          <a:prstGeom xmlns:a="http://schemas.openxmlformats.org/drawingml/2006/main" prst="rect">
            <a:avLst/>
          </a:prstGeom>
          <a:solidFill xmlns:a="http://schemas.openxmlformats.org/drawingml/2006/main">
            <a:srgbClr val="EDF4F6"/>
          </a:solidFill>
          <a:ln xmlns:a="http://schemas.openxmlformats.org/drawingml/2006/main" w="19050">
            <a:solidFill>
              <a:srgbClr val="087F8C"/>
            </a:solidFill>
          </a:ln>
        </p:spPr>
        <p:txBody>
          <a:bodyPr xmlns:a="http://schemas.openxmlformats.org/drawingml/2006/main" lIns="95250" tIns="95250" rIns="95250" bIns="95250" anchor="ctr"/>
          <a:lstStyle xmlns:a="http://schemas.openxmlformats.org/drawingml/2006/main">
            <a:defPPr algn="ctr">
              <a:defRPr sz="1800" b="1">
                <a:solidFill>
                  <a:srgbClr val="102D44"/>
                </a:solidFill>
                <a:latin typeface="Arial"/>
                <a:ea typeface="Arial"/>
                <a:cs typeface="Arial"/>
              </a:defRPr>
            </a:defPPr>
          </a:lstStyle>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Plotly Dash</a:t>
            </a:r>
          </a:p>
          <a:p xmlns:a="http://schemas.openxmlformats.org/drawingml/2006/main">
            <a:pPr algn="ctr">
              <a:defRPr sz="1800" b="1">
                <a:solidFill>
                  <a:srgbClr val="102D44"/>
                </a:solidFill>
                <a:latin typeface="Arial"/>
                <a:ea typeface="Arial"/>
                <a:cs typeface="Arial"/>
              </a:defRPr>
            </a:pPr>
            <a:r>
              <a:rPr sz="1800" b="1">
                <a:solidFill>
                  <a:srgbClr val="102D44"/>
                </a:solidFill>
                <a:latin typeface="Arial"/>
                <a:ea typeface="Arial"/>
                <a:cs typeface="Arial"/>
              </a:rPr>
              <a:t>Dashboards</a:t>
            </a:r>
          </a:p>
        </p:txBody>
      </p:sp>
      <p:sp>
        <p:nvSpPr>
          <p:cNvPr id="15" name="architecture-runtime">
            <a:extLst xmlns:a="http://schemas.openxmlformats.org/drawingml/2006/main">
              <a:ext uri="{FF2B5EF4-FFF2-40B4-BE49-F238E27FC236}">
                <a16:creationId xmlns:a16="http://schemas.microsoft.com/office/drawing/2014/main" id="{3FA82CAB-5838-4ACC-AE4C-C42E203B73D0}"/>
              </a:ext>
            </a:extLst>
          </p:cNvPr>
          <p:cNvSpPr>
            <a:spLocks xmlns:a="http://schemas.openxmlformats.org/drawingml/2006/main" noGrp="1"/>
          </p:cNvSpPr>
          <p:nvPr/>
        </p:nvSpPr>
        <p:spPr>
          <a:xfrm xmlns:a="http://schemas.openxmlformats.org/drawingml/2006/main">
            <a:off x="685800" y="54197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00" b="1">
                <a:solidFill>
                  <a:srgbClr val="087F8C"/>
                </a:solidFill>
                <a:latin typeface="Arial"/>
                <a:ea typeface="Arial"/>
                <a:cs typeface="Arial"/>
              </a:defRPr>
            </a:defPPr>
          </a:lstStyle>
          <a:p xmlns:a="http://schemas.openxmlformats.org/drawingml/2006/main">
            <a:pPr algn="l">
              <a:defRPr sz="1900" b="1">
                <a:solidFill>
                  <a:srgbClr val="087F8C"/>
                </a:solidFill>
                <a:latin typeface="Arial"/>
                <a:ea typeface="Arial"/>
                <a:cs typeface="Arial"/>
              </a:defRPr>
            </a:pPr>
            <a:r>
              <a:rPr sz="1900" b="1">
                <a:solidFill>
                  <a:srgbClr val="087F8C"/>
                </a:solidFill>
                <a:latin typeface="Arial"/>
                <a:ea typeface="Arial"/>
                <a:cs typeface="Arial"/>
              </a:rPr>
              <a:t>Laboratorio Windows: NiFi 2.12.0, Spark 4.0.1 local[2] y PostgreSQL 17.6</a:t>
            </a:r>
          </a:p>
        </p:txBody>
      </p:sp>
      <p:sp>
        <p:nvSpPr>
          <p:cNvPr id="16" name="architecture-attributes">
            <a:extLst xmlns:a="http://schemas.openxmlformats.org/drawingml/2006/main">
              <a:ext uri="{FF2B5EF4-FFF2-40B4-BE49-F238E27FC236}">
                <a16:creationId xmlns:a16="http://schemas.microsoft.com/office/drawing/2014/main" id="{D8B72826-89EA-4629-8053-1007338ACC60}"/>
              </a:ext>
            </a:extLst>
          </p:cNvPr>
          <p:cNvSpPr>
            <a:spLocks xmlns:a="http://schemas.openxmlformats.org/drawingml/2006/main" noGrp="1"/>
          </p:cNvSpPr>
          <p:nvPr/>
        </p:nvSpPr>
        <p:spPr>
          <a:xfrm xmlns:a="http://schemas.openxmlformats.org/drawingml/2006/main">
            <a:off x="685800" y="58959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00" b="0">
                <a:solidFill>
                  <a:srgbClr val="263B4A"/>
                </a:solidFill>
                <a:latin typeface="Arial"/>
                <a:ea typeface="Arial"/>
                <a:cs typeface="Arial"/>
              </a:defRPr>
            </a:defPPr>
          </a:lstStyle>
          <a:p xmlns:a="http://schemas.openxmlformats.org/drawingml/2006/main">
            <a:pPr algn="l">
              <a:defRPr sz="1700" b="0">
                <a:solidFill>
                  <a:srgbClr val="263B4A"/>
                </a:solidFill>
                <a:latin typeface="Arial"/>
                <a:ea typeface="Arial"/>
                <a:cs typeface="Arial"/>
              </a:defRPr>
            </a:pPr>
            <a:r>
              <a:rPr sz="1700" b="0">
                <a:solidFill>
                  <a:srgbClr val="263B4A"/>
                </a:solidFill>
                <a:latin typeface="Arial"/>
                <a:ea typeface="Arial"/>
                <a:cs typeface="Arial"/>
              </a:rPr>
              <a:t>batch_id, fuente e ingested_at trazan cada registro. event_id controla repeticiones</a:t>
            </a:r>
          </a:p>
        </p:txBody>
      </p:sp>
    </p:spTree>
    <p:extLst>
      <p:ext uri="{BB962C8B-B14F-4D97-AF65-F5344CB8AC3E}">
        <p14:creationId xmlns:p14="http://schemas.microsoft.com/office/powerpoint/2010/main" val="18410702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9D7FBBF-D692-44DF-80A8-FEB0BC3AA83B}"/>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Contrato de eventos y reconocimiento de ingresos</a:t>
            </a:r>
          </a:p>
        </p:txBody>
      </p:sp>
      <p:sp>
        <p:nvSpPr>
          <p:cNvPr id="2" name="footer">
            <a:extLst xmlns:a="http://schemas.openxmlformats.org/drawingml/2006/main">
              <a:ext uri="{FF2B5EF4-FFF2-40B4-BE49-F238E27FC236}">
                <a16:creationId xmlns:a16="http://schemas.microsoft.com/office/drawing/2014/main" id="{90593C88-CAE3-4543-AF94-6A49E30435A6}"/>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4/10</a:t>
            </a:r>
          </a:p>
        </p:txBody>
      </p:sp>
      <p:sp>
        <p:nvSpPr>
          <p:cNvPr id="3" name="contract-identity">
            <a:extLst xmlns:a="http://schemas.openxmlformats.org/drawingml/2006/main">
              <a:ext uri="{FF2B5EF4-FFF2-40B4-BE49-F238E27FC236}">
                <a16:creationId xmlns:a16="http://schemas.microsoft.com/office/drawing/2014/main" id="{2213A736-9C72-4E8B-BE2E-F3634C1F8EAE}"/>
              </a:ext>
            </a:extLst>
          </p:cNvPr>
          <p:cNvSpPr>
            <a:spLocks xmlns:a="http://schemas.openxmlformats.org/drawingml/2006/main" noGrp="1"/>
          </p:cNvSpPr>
          <p:nvPr/>
        </p:nvSpPr>
        <p:spPr>
          <a:xfrm xmlns:a="http://schemas.openxmlformats.org/drawingml/2006/main">
            <a:off x="685800" y="14287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1">
                <a:solidFill>
                  <a:srgbClr val="087F8C"/>
                </a:solidFill>
                <a:latin typeface="Arial"/>
                <a:ea typeface="Arial"/>
                <a:cs typeface="Arial"/>
              </a:defRPr>
            </a:defPPr>
          </a:lstStyle>
          <a:p xmlns:a="http://schemas.openxmlformats.org/drawingml/2006/main">
            <a:pPr algn="l">
              <a:defRPr sz="2200" b="1">
                <a:solidFill>
                  <a:srgbClr val="087F8C"/>
                </a:solidFill>
                <a:latin typeface="Arial"/>
                <a:ea typeface="Arial"/>
                <a:cs typeface="Arial"/>
              </a:defRPr>
            </a:pPr>
            <a:r>
              <a:rPr sz="2200" b="1">
                <a:solidFill>
                  <a:srgbClr val="087F8C"/>
                </a:solidFill>
                <a:latin typeface="Arial"/>
                <a:ea typeface="Arial"/>
                <a:cs typeface="Arial"/>
              </a:rPr>
              <a:t>Identidad y tiempo</a:t>
            </a:r>
          </a:p>
        </p:txBody>
      </p:sp>
      <p:sp>
        <p:nvSpPr>
          <p:cNvPr id="4" name="contract-fields">
            <a:extLst xmlns:a="http://schemas.openxmlformats.org/drawingml/2006/main">
              <a:ext uri="{FF2B5EF4-FFF2-40B4-BE49-F238E27FC236}">
                <a16:creationId xmlns:a16="http://schemas.microsoft.com/office/drawing/2014/main" id="{6623F0D2-6B53-4CA6-87B6-FD60555FF71F}"/>
              </a:ext>
            </a:extLst>
          </p:cNvPr>
          <p:cNvSpPr>
            <a:spLocks xmlns:a="http://schemas.openxmlformats.org/drawingml/2006/main" noGrp="1"/>
          </p:cNvSpPr>
          <p:nvPr/>
        </p:nvSpPr>
        <p:spPr>
          <a:xfrm xmlns:a="http://schemas.openxmlformats.org/drawingml/2006/main">
            <a:off x="685800" y="2019300"/>
            <a:ext cx="4857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00" b="0">
                <a:solidFill>
                  <a:srgbClr val="263B4A"/>
                </a:solidFill>
                <a:latin typeface="Arial"/>
                <a:ea typeface="Arial"/>
                <a:cs typeface="Arial"/>
              </a:defRPr>
            </a:defPPr>
          </a:lstStyle>
          <a:p xmlns:a="http://schemas.openxmlformats.org/drawingml/2006/main">
            <a:pPr algn="l">
              <a:defRPr sz="2000" b="0">
                <a:solidFill>
                  <a:srgbClr val="263B4A"/>
                </a:solidFill>
                <a:latin typeface="Arial"/>
                <a:ea typeface="Arial"/>
                <a:cs typeface="Arial"/>
              </a:defRPr>
            </a:pPr>
            <a:r>
              <a:rPr sz="2000" b="0">
                <a:solidFill>
                  <a:srgbClr val="263B4A"/>
                </a:solidFill>
                <a:latin typeface="Arial"/>
                <a:ea typeface="Arial"/>
                <a:cs typeface="Arial"/>
              </a:rPr>
              <a:t>event_id y order_id</a:t>
            </a:r>
          </a:p>
          <a:p xmlns:a="http://schemas.openxmlformats.org/drawingml/2006/main">
            <a:pPr algn="l">
              <a:defRPr sz="2000" b="0">
                <a:solidFill>
                  <a:srgbClr val="263B4A"/>
                </a:solidFill>
                <a:latin typeface="Arial"/>
                <a:ea typeface="Arial"/>
                <a:cs typeface="Arial"/>
              </a:defRPr>
            </a:pPr>
            <a:r>
              <a:rPr sz="2000" b="0">
                <a:solidFill>
                  <a:srgbClr val="263B4A"/>
                </a:solidFill>
                <a:latin typeface="Arial"/>
                <a:ea typeface="Arial"/>
                <a:cs typeface="Arial"/>
              </a:rPr>
              <a:t>customer_id sintético</a:t>
            </a:r>
          </a:p>
          <a:p xmlns:a="http://schemas.openxmlformats.org/drawingml/2006/main">
            <a:pPr algn="l">
              <a:defRPr sz="2000" b="0">
                <a:solidFill>
                  <a:srgbClr val="263B4A"/>
                </a:solidFill>
                <a:latin typeface="Arial"/>
                <a:ea typeface="Arial"/>
                <a:cs typeface="Arial"/>
              </a:defRPr>
            </a:pPr>
            <a:r>
              <a:rPr sz="2000" b="0">
                <a:solidFill>
                  <a:srgbClr val="263B4A"/>
                </a:solidFill>
                <a:latin typeface="Arial"/>
                <a:ea typeface="Arial"/>
                <a:cs typeface="Arial"/>
              </a:rPr>
              <a:t>event_time en UTC</a:t>
            </a:r>
          </a:p>
          <a:p xmlns:a="http://schemas.openxmlformats.org/drawingml/2006/main">
            <a:pPr algn="l">
              <a:defRPr sz="2000" b="0">
                <a:solidFill>
                  <a:srgbClr val="263B4A"/>
                </a:solidFill>
                <a:latin typeface="Arial"/>
                <a:ea typeface="Arial"/>
                <a:cs typeface="Arial"/>
              </a:defRPr>
            </a:pPr>
            <a:r>
              <a:rPr sz="2000" b="0">
                <a:solidFill>
                  <a:srgbClr val="263B4A"/>
                </a:solidFill>
                <a:latin typeface="Arial"/>
                <a:ea typeface="Arial"/>
                <a:cs typeface="Arial"/>
              </a:rPr>
              <a:t>channel y currency</a:t>
            </a:r>
          </a:p>
        </p:txBody>
      </p:sp>
      <p:sp>
        <p:nvSpPr>
          <p:cNvPr id="5" name="contract-money">
            <a:extLst xmlns:a="http://schemas.openxmlformats.org/drawingml/2006/main">
              <a:ext uri="{FF2B5EF4-FFF2-40B4-BE49-F238E27FC236}">
                <a16:creationId xmlns:a16="http://schemas.microsoft.com/office/drawing/2014/main" id="{CD370E0A-9A19-4596-B160-4185573FEDFE}"/>
              </a:ext>
            </a:extLst>
          </p:cNvPr>
          <p:cNvSpPr>
            <a:spLocks xmlns:a="http://schemas.openxmlformats.org/drawingml/2006/main" noGrp="1"/>
          </p:cNvSpPr>
          <p:nvPr/>
        </p:nvSpPr>
        <p:spPr>
          <a:xfrm xmlns:a="http://schemas.openxmlformats.org/drawingml/2006/main">
            <a:off x="685800" y="40005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1">
                <a:solidFill>
                  <a:srgbClr val="087F8C"/>
                </a:solidFill>
                <a:latin typeface="Arial"/>
                <a:ea typeface="Arial"/>
                <a:cs typeface="Arial"/>
              </a:defRPr>
            </a:defPPr>
          </a:lstStyle>
          <a:p xmlns:a="http://schemas.openxmlformats.org/drawingml/2006/main">
            <a:pPr algn="l">
              <a:defRPr sz="2200" b="1">
                <a:solidFill>
                  <a:srgbClr val="087F8C"/>
                </a:solidFill>
                <a:latin typeface="Arial"/>
                <a:ea typeface="Arial"/>
                <a:cs typeface="Arial"/>
              </a:defRPr>
            </a:pPr>
            <a:r>
              <a:rPr sz="2200" b="1">
                <a:solidFill>
                  <a:srgbClr val="087F8C"/>
                </a:solidFill>
                <a:latin typeface="Arial"/>
                <a:ea typeface="Arial"/>
                <a:cs typeface="Arial"/>
              </a:rPr>
              <a:t>Importes y devoluciones</a:t>
            </a:r>
          </a:p>
        </p:txBody>
      </p:sp>
      <p:sp>
        <p:nvSpPr>
          <p:cNvPr id="6" name="contract-rules">
            <a:extLst xmlns:a="http://schemas.openxmlformats.org/drawingml/2006/main">
              <a:ext uri="{FF2B5EF4-FFF2-40B4-BE49-F238E27FC236}">
                <a16:creationId xmlns:a16="http://schemas.microsoft.com/office/drawing/2014/main" id="{9AC71F62-096F-40B9-9412-EB107844A122}"/>
              </a:ext>
            </a:extLst>
          </p:cNvPr>
          <p:cNvSpPr>
            <a:spLocks xmlns:a="http://schemas.openxmlformats.org/drawingml/2006/main" noGrp="1"/>
          </p:cNvSpPr>
          <p:nvPr/>
        </p:nvSpPr>
        <p:spPr>
          <a:xfrm xmlns:a="http://schemas.openxmlformats.org/drawingml/2006/main">
            <a:off x="685800" y="4524375"/>
            <a:ext cx="4857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00" b="0">
                <a:solidFill>
                  <a:srgbClr val="263B4A"/>
                </a:solidFill>
                <a:latin typeface="Arial"/>
                <a:ea typeface="Arial"/>
                <a:cs typeface="Arial"/>
              </a:defRPr>
            </a:defPPr>
          </a:lstStyle>
          <a:p xmlns:a="http://schemas.openxmlformats.org/drawingml/2006/main">
            <a:pPr algn="l">
              <a:defRPr sz="1900" b="0">
                <a:solidFill>
                  <a:srgbClr val="263B4A"/>
                </a:solidFill>
                <a:latin typeface="Arial"/>
                <a:ea typeface="Arial"/>
                <a:cs typeface="Arial"/>
              </a:defRPr>
            </a:pPr>
            <a:r>
              <a:rPr sz="1900" b="0">
                <a:solidFill>
                  <a:srgbClr val="263B4A"/>
                </a:solidFill>
                <a:latin typeface="Arial"/>
                <a:ea typeface="Arial"/>
                <a:cs typeface="Arial"/>
              </a:rPr>
              <a:t>Centavos enteros BOB</a:t>
            </a:r>
          </a:p>
          <a:p xmlns:a="http://schemas.openxmlformats.org/drawingml/2006/main">
            <a:pPr algn="l">
              <a:defRPr sz="1900" b="0">
                <a:solidFill>
                  <a:srgbClr val="263B4A"/>
                </a:solidFill>
                <a:latin typeface="Arial"/>
                <a:ea typeface="Arial"/>
                <a:cs typeface="Arial"/>
              </a:defRPr>
            </a:pPr>
            <a:r>
              <a:rPr sz="1900" b="0">
                <a:solidFill>
                  <a:srgbClr val="263B4A"/>
                </a:solidFill>
                <a:latin typeface="Arial"/>
                <a:ea typeface="Arial"/>
                <a:cs typeface="Arial"/>
              </a:rPr>
              <a:t>Un pago por pedido</a:t>
            </a:r>
          </a:p>
          <a:p xmlns:a="http://schemas.openxmlformats.org/drawingml/2006/main">
            <a:pPr algn="l">
              <a:defRPr sz="1900" b="0">
                <a:solidFill>
                  <a:srgbClr val="263B4A"/>
                </a:solidFill>
                <a:latin typeface="Arial"/>
                <a:ea typeface="Arial"/>
                <a:cs typeface="Arial"/>
              </a:defRPr>
            </a:pPr>
            <a:r>
              <a:rPr sz="1900" b="0">
                <a:solidFill>
                  <a:srgbClr val="263B4A"/>
                </a:solidFill>
                <a:latin typeface="Arial"/>
                <a:ea typeface="Arial"/>
                <a:cs typeface="Arial"/>
              </a:rPr>
              <a:t>Reembolso parcial ligado al pago</a:t>
            </a:r>
          </a:p>
          <a:p xmlns:a="http://schemas.openxmlformats.org/drawingml/2006/main">
            <a:pPr algn="l">
              <a:defRPr sz="1900" b="0">
                <a:solidFill>
                  <a:srgbClr val="263B4A"/>
                </a:solidFill>
                <a:latin typeface="Arial"/>
                <a:ea typeface="Arial"/>
                <a:cs typeface="Arial"/>
              </a:defRPr>
            </a:pPr>
            <a:r>
              <a:rPr sz="1900" b="0">
                <a:solidFill>
                  <a:srgbClr val="263B4A"/>
                </a:solidFill>
                <a:latin typeface="Arial"/>
                <a:ea typeface="Arial"/>
                <a:cs typeface="Arial"/>
              </a:rPr>
              <a:t>Cantidades e importes acumulados limitados</a:t>
            </a:r>
          </a:p>
        </p:txBody>
      </p:sp>
      <p:graphicFrame>
        <p:nvGraphicFramePr>
          <p:cNvPr id="7" name="Chart">
            <a:extLst xmlns:a="http://schemas.openxmlformats.org/drawingml/2006/main">
              <a:ext uri="{FF2B5EF4-FFF2-40B4-BE49-F238E27FC236}">
                <a16:creationId xmlns:a16="http://schemas.microsoft.com/office/drawing/2014/main" id="{4DDDCD7F-0B68-464A-A1F1-7DA99DFDA27C}"/>
              </a:ext>
            </a:extLst>
          </p:cNvPr>
          <p:cNvGraphicFramePr/>
          <p:nvPr/>
        </p:nvGraphicFramePr>
        <p:xfrm>
          <a:off xmlns:a="http://schemas.openxmlformats.org/drawingml/2006/main" x="5762625" y="1590675"/>
          <a:ext xmlns:a="http://schemas.openxmlformats.org/drawingml/2006/main" cx="5619750" cy="3943350"/>
        </p:xfrm>
        <a:graphic xmlns:a="http://schemas.openxmlformats.org/drawingml/2006/main">
          <a:graphicData uri="http://schemas.openxmlformats.org/drawingml/2006/chart">
            <c:chart xmlns:r="http://schemas.openxmlformats.org/officeDocument/2006/relationships" xmlns:c="http://schemas.openxmlformats.org/drawingml/2006/chart" r:id="R2870f6ec53e74202"/>
          </a:graphicData>
        </a:graphic>
      </p:graphicFrame>
      <p:sp>
        <p:nvSpPr>
          <p:cNvPr id="8" name="contract-chart-source">
            <a:extLst xmlns:a="http://schemas.openxmlformats.org/drawingml/2006/main">
              <a:ext uri="{FF2B5EF4-FFF2-40B4-BE49-F238E27FC236}">
                <a16:creationId xmlns:a16="http://schemas.microsoft.com/office/drawing/2014/main" id="{15EF2748-2CD7-4B3E-845E-DD39FD21C7E8}"/>
              </a:ext>
            </a:extLst>
          </p:cNvPr>
          <p:cNvSpPr>
            <a:spLocks xmlns:a="http://schemas.openxmlformats.org/drawingml/2006/main" noGrp="1"/>
          </p:cNvSpPr>
          <p:nvPr/>
        </p:nvSpPr>
        <p:spPr>
          <a:xfrm xmlns:a="http://schemas.openxmlformats.org/drawingml/2006/main">
            <a:off x="5762625" y="5762625"/>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00" b="0">
                <a:solidFill>
                  <a:srgbClr val="607483"/>
                </a:solidFill>
                <a:latin typeface="Arial"/>
                <a:ea typeface="Arial"/>
                <a:cs typeface="Arial"/>
              </a:defRPr>
            </a:defPPr>
          </a:lstStyle>
          <a:p xmlns:a="http://schemas.openxmlformats.org/drawingml/2006/main">
            <a:pPr algn="l">
              <a:defRPr sz="1600" b="0">
                <a:solidFill>
                  <a:srgbClr val="607483"/>
                </a:solidFill>
                <a:latin typeface="Arial"/>
                <a:ea typeface="Arial"/>
                <a:cs typeface="Arial"/>
              </a:defRPr>
            </a:pPr>
            <a:r>
              <a:rPr sz="1600" b="0">
                <a:solidFill>
                  <a:srgbClr val="607483"/>
                </a:solidFill>
                <a:latin typeface="Arial"/>
                <a:ea typeface="Arial"/>
                <a:cs typeface="Arial"/>
              </a:rPr>
              <a:t>BASE: 31.000 hechos publicados y reconciliados</a:t>
            </a:r>
          </a:p>
        </p:txBody>
      </p:sp>
    </p:spTree>
    <p:extLst>
      <p:ext uri="{BB962C8B-B14F-4D97-AF65-F5344CB8AC3E}">
        <p14:creationId xmlns:p14="http://schemas.microsoft.com/office/powerpoint/2010/main" val="9046832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659BD53-2697-4B59-BB46-6E5D9070E90C}"/>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Calidad de datos y recuperación</a:t>
            </a:r>
          </a:p>
        </p:txBody>
      </p:sp>
      <p:sp>
        <p:nvSpPr>
          <p:cNvPr id="2" name="footer">
            <a:extLst xmlns:a="http://schemas.openxmlformats.org/drawingml/2006/main">
              <a:ext uri="{FF2B5EF4-FFF2-40B4-BE49-F238E27FC236}">
                <a16:creationId xmlns:a16="http://schemas.microsoft.com/office/drawing/2014/main" id="{ACA38646-DC32-4344-86DE-4EDAA254935A}"/>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5/10</a:t>
            </a:r>
          </a:p>
        </p:txBody>
      </p:sp>
      <p:graphicFrame>
        <p:nvGraphicFramePr>
          <p:cNvPr id="3" name="">
            <a:extLst xmlns:a="http://schemas.openxmlformats.org/drawingml/2006/main">
              <a:ext uri="{FF2B5EF4-FFF2-40B4-BE49-F238E27FC236}">
                <a16:creationId xmlns:a16="http://schemas.microsoft.com/office/drawing/2014/main" id="{B728DB82-EC14-4D69-AC9D-2AA14A86EF8A}"/>
              </a:ext>
            </a:extLst>
          </p:cNvPr>
          <p:cNvGraphicFramePr/>
          <p:nvPr/>
        </p:nvGraphicFramePr>
        <p:xfrm>
          <a:off xmlns:a="http://schemas.openxmlformats.org/drawingml/2006/main" x="685800" y="1476375"/>
          <a:ext xmlns:a="http://schemas.openxmlformats.org/drawingml/2006/main" cx="10820400" cy="3305175"/>
        </p:xfrm>
        <a:graphic xmlns:a="http://schemas.openxmlformats.org/drawingml/2006/main">
          <a:graphicData uri="http://schemas.openxmlformats.org/drawingml/2006/table">
            <a:tbl>
              <a:tblPr/>
              <a:tblGrid>
                <a:gridCol w="2857500"/>
                <a:gridCol w="2428875"/>
                <a:gridCol w="5534025"/>
              </a:tblGrid>
              <a:tr h="661035">
                <a:tc>
                  <a:txBody>
                    <a:bodyPr lIns="133350" tIns="114300" rIns="133350" bIns="95250"/>
                    <a:lstStyle/>
                    <a:p>
                      <a:pPr algn="l"/>
                      <a:r>
                        <a:rPr sz="1800" b="1">
                          <a:solidFill>
                            <a:srgbClr val="FFFFFF"/>
                          </a:solidFill>
                          <a:latin typeface="Arial"/>
                          <a:ea typeface="Arial"/>
                          <a:cs typeface="Arial"/>
                        </a:rPr>
                        <a:t>Control</a:t>
                      </a:r>
                    </a:p>
                  </a:txBody>
                  <a:tcPr marL="91440" marR="91440" marT="45720" marB="45720">
                    <a:solidFill>
                      <a:srgbClr val="102D44"/>
                    </a:solidFill>
                  </a:tcPr>
                </a:tc>
                <a:tc>
                  <a:txBody>
                    <a:bodyPr lIns="133350" tIns="114300" rIns="133350" bIns="95250"/>
                    <a:lstStyle/>
                    <a:p>
                      <a:pPr algn="l"/>
                      <a:r>
                        <a:rPr sz="1800" b="1">
                          <a:solidFill>
                            <a:srgbClr val="FFFFFF"/>
                          </a:solidFill>
                          <a:latin typeface="Arial"/>
                          <a:ea typeface="Arial"/>
                          <a:cs typeface="Arial"/>
                        </a:rPr>
                        <a:t>Casos comprobados</a:t>
                      </a:r>
                    </a:p>
                  </a:txBody>
                  <a:tcPr marL="91440" marR="91440" marT="45720" marB="45720">
                    <a:solidFill>
                      <a:srgbClr val="102D44"/>
                    </a:solidFill>
                  </a:tcPr>
                </a:tc>
                <a:tc>
                  <a:txBody>
                    <a:bodyPr lIns="133350" tIns="114300" rIns="133350" bIns="95250"/>
                    <a:lstStyle/>
                    <a:p>
                      <a:pPr algn="l"/>
                      <a:r>
                        <a:rPr sz="1800" b="1">
                          <a:solidFill>
                            <a:srgbClr val="FFFFFF"/>
                          </a:solidFill>
                          <a:latin typeface="Arial"/>
                          <a:ea typeface="Arial"/>
                          <a:cs typeface="Arial"/>
                        </a:rPr>
                        <a:t>Resultado</a:t>
                      </a:r>
                    </a:p>
                  </a:txBody>
                  <a:tcPr marL="91440" marR="91440" marT="45720" marB="45720">
                    <a:solidFill>
                      <a:srgbClr val="102D44"/>
                    </a:solidFill>
                  </a:tcPr>
                </a:tc>
              </a:tr>
              <a:tr h="661035">
                <a:tc>
                  <a:txBody>
                    <a:bodyPr lIns="133350" tIns="114300" rIns="133350" bIns="95250"/>
                    <a:lstStyle/>
                    <a:p>
                      <a:pPr algn="l"/>
                      <a:r>
                        <a:rPr sz="1800" b="0">
                          <a:solidFill>
                            <a:srgbClr val="263B4A"/>
                          </a:solidFill>
                          <a:latin typeface="Arial"/>
                          <a:ea typeface="Arial"/>
                          <a:cs typeface="Arial"/>
                        </a:rPr>
                        <a:t>JSON Schema</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20 eventos</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NiFi conserva la cuarentena</a:t>
                      </a:r>
                    </a:p>
                  </a:txBody>
                  <a:tcPr marL="91440" marR="91440" marT="45720" marB="45720">
                    <a:solidFill>
                      <a:srgbClr val="FFFFFF"/>
                    </a:solidFill>
                  </a:tcPr>
                </a:tc>
              </a:tr>
              <a:tr h="661035">
                <a:tc>
                  <a:txBody>
                    <a:bodyPr lIns="133350" tIns="114300" rIns="133350" bIns="95250"/>
                    <a:lstStyle/>
                    <a:p>
                      <a:pPr algn="l"/>
                      <a:r>
                        <a:rPr sz="1800" b="0">
                          <a:solidFill>
                            <a:srgbClr val="263B4A"/>
                          </a:solidFill>
                          <a:latin typeface="Arial"/>
                          <a:ea typeface="Arial"/>
                          <a:cs typeface="Arial"/>
                        </a:rPr>
                        <a:t>Reglas de negocio</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18 rechazos + 2 pendientes</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Las referencias pendientes no suman ingresos</a:t>
                      </a:r>
                    </a:p>
                  </a:txBody>
                  <a:tcPr marL="91440" marR="91440" marT="45720" marB="45720">
                    <a:solidFill>
                      <a:srgbClr val="EDF4F6"/>
                    </a:solidFill>
                  </a:tcPr>
                </a:tc>
              </a:tr>
              <a:tr h="661035">
                <a:tc>
                  <a:txBody>
                    <a:bodyPr lIns="133350" tIns="114300" rIns="133350" bIns="95250"/>
                    <a:lstStyle/>
                    <a:p>
                      <a:pPr algn="l"/>
                      <a:r>
                        <a:rPr sz="1800" b="0">
                          <a:solidFill>
                            <a:srgbClr val="263B4A"/>
                          </a:solidFill>
                          <a:latin typeface="Arial"/>
                          <a:ea typeface="Arial"/>
                          <a:cs typeface="Arial"/>
                        </a:rPr>
                        <a:t>Repetición exacta</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25 duplicados en BASE</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Repetir BASE publica 0 hechos nuevos</a:t>
                      </a:r>
                    </a:p>
                  </a:txBody>
                  <a:tcPr marL="91440" marR="91440" marT="45720" marB="45720">
                    <a:solidFill>
                      <a:srgbClr val="FFFFFF"/>
                    </a:solidFill>
                  </a:tcPr>
                </a:tc>
              </a:tr>
              <a:tr h="661035">
                <a:tc>
                  <a:txBody>
                    <a:bodyPr lIns="133350" tIns="114300" rIns="133350" bIns="95250"/>
                    <a:lstStyle/>
                    <a:p>
                      <a:pPr algn="l"/>
                      <a:r>
                        <a:rPr sz="1800" b="0">
                          <a:solidFill>
                            <a:srgbClr val="263B4A"/>
                          </a:solidFill>
                          <a:latin typeface="Arial"/>
                          <a:ea typeface="Arial"/>
                          <a:cs typeface="Arial"/>
                        </a:rPr>
                        <a:t>Catálogo CSV</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1 fila inválida</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NiFi rechaza el precio negativo</a:t>
                      </a:r>
                    </a:p>
                  </a:txBody>
                  <a:tcPr marL="91440" marR="91440" marT="45720" marB="45720">
                    <a:solidFill>
                      <a:srgbClr val="EDF4F6"/>
                    </a:solidFill>
                  </a:tcPr>
                </a:tc>
              </a:tr>
            </a:tbl>
          </a:graphicData>
        </a:graphic>
      </p:graphicFrame>
      <p:sp>
        <p:nvSpPr>
          <p:cNvPr id="4" name="recovery-label">
            <a:extLst xmlns:a="http://schemas.openxmlformats.org/drawingml/2006/main">
              <a:ext uri="{FF2B5EF4-FFF2-40B4-BE49-F238E27FC236}">
                <a16:creationId xmlns:a16="http://schemas.microsoft.com/office/drawing/2014/main" id="{47EE579A-C2CC-4289-8FD5-1BC07EB784E1}"/>
              </a:ext>
            </a:extLst>
          </p:cNvPr>
          <p:cNvSpPr>
            <a:spLocks xmlns:a="http://schemas.openxmlformats.org/drawingml/2006/main" noGrp="1"/>
          </p:cNvSpPr>
          <p:nvPr/>
        </p:nvSpPr>
        <p:spPr>
          <a:xfrm xmlns:a="http://schemas.openxmlformats.org/drawingml/2006/main">
            <a:off x="685800" y="51244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1">
                <a:solidFill>
                  <a:srgbClr val="087F8C"/>
                </a:solidFill>
                <a:latin typeface="Arial"/>
                <a:ea typeface="Arial"/>
                <a:cs typeface="Arial"/>
              </a:defRPr>
            </a:defPPr>
          </a:lstStyle>
          <a:p xmlns:a="http://schemas.openxmlformats.org/drawingml/2006/main">
            <a:pPr algn="l">
              <a:defRPr sz="2200" b="1">
                <a:solidFill>
                  <a:srgbClr val="087F8C"/>
                </a:solidFill>
                <a:latin typeface="Arial"/>
                <a:ea typeface="Arial"/>
                <a:cs typeface="Arial"/>
              </a:defRPr>
            </a:pPr>
            <a:r>
              <a:rPr sz="2200" b="1">
                <a:solidFill>
                  <a:srgbClr val="087F8C"/>
                </a:solidFill>
                <a:latin typeface="Arial"/>
                <a:ea typeface="Arial"/>
                <a:cs typeface="Arial"/>
              </a:rPr>
              <a:t>Recuperación</a:t>
            </a:r>
          </a:p>
        </p:txBody>
      </p:sp>
      <p:sp>
        <p:nvSpPr>
          <p:cNvPr id="5" name="recovery-body">
            <a:extLst xmlns:a="http://schemas.openxmlformats.org/drawingml/2006/main">
              <a:ext uri="{FF2B5EF4-FFF2-40B4-BE49-F238E27FC236}">
                <a16:creationId xmlns:a16="http://schemas.microsoft.com/office/drawing/2014/main" id="{DCC5370F-6941-4CC8-96A9-4C2870EA7411}"/>
              </a:ext>
            </a:extLst>
          </p:cNvPr>
          <p:cNvSpPr>
            <a:spLocks xmlns:a="http://schemas.openxmlformats.org/drawingml/2006/main" noGrp="1"/>
          </p:cNvSpPr>
          <p:nvPr/>
        </p:nvSpPr>
        <p:spPr>
          <a:xfrm xmlns:a="http://schemas.openxmlformats.org/drawingml/2006/main">
            <a:off x="3638550" y="5124450"/>
            <a:ext cx="7867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00" b="0">
                <a:solidFill>
                  <a:srgbClr val="263B4A"/>
                </a:solidFill>
                <a:latin typeface="Arial"/>
                <a:ea typeface="Arial"/>
                <a:cs typeface="Arial"/>
              </a:defRPr>
            </a:defPPr>
          </a:lstStyle>
          <a:p xmlns:a="http://schemas.openxmlformats.org/drawingml/2006/main">
            <a:pPr algn="l">
              <a:defRPr sz="2000" b="0">
                <a:solidFill>
                  <a:srgbClr val="263B4A"/>
                </a:solidFill>
                <a:latin typeface="Arial"/>
                <a:ea typeface="Arial"/>
                <a:cs typeface="Arial"/>
              </a:defRPr>
            </a:pPr>
            <a:r>
              <a:rPr sz="2000" b="0">
                <a:solidFill>
                  <a:srgbClr val="263B4A"/>
                </a:solidFill>
                <a:latin typeface="Arial"/>
                <a:ea typeface="Arial"/>
                <a:cs typeface="Arial"/>
              </a:rPr>
              <a:t>Prueba de transporte: fallo final tras 4 intentos. Colas con backpressure y publicación atómica por lote</a:t>
            </a:r>
          </a:p>
        </p:txBody>
      </p:sp>
    </p:spTree>
    <p:extLst>
      <p:ext uri="{BB962C8B-B14F-4D97-AF65-F5344CB8AC3E}">
        <p14:creationId xmlns:p14="http://schemas.microsoft.com/office/powerpoint/2010/main" val="2448833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D1CD953-1562-4B86-929A-C8C2F6EE4AF5}"/>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PostgreSQL y continuidad de datos</a:t>
            </a:r>
          </a:p>
        </p:txBody>
      </p:sp>
      <p:sp>
        <p:nvSpPr>
          <p:cNvPr id="2" name="footer">
            <a:extLst xmlns:a="http://schemas.openxmlformats.org/drawingml/2006/main">
              <a:ext uri="{FF2B5EF4-FFF2-40B4-BE49-F238E27FC236}">
                <a16:creationId xmlns:a16="http://schemas.microsoft.com/office/drawing/2014/main" id="{52A42273-6FC9-4E52-B083-6DED0D3CB095}"/>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6/10</a:t>
            </a:r>
          </a:p>
        </p:txBody>
      </p:sp>
      <p:graphicFrame>
        <p:nvGraphicFramePr>
          <p:cNvPr id="3" name="">
            <a:extLst xmlns:a="http://schemas.openxmlformats.org/drawingml/2006/main">
              <a:ext uri="{FF2B5EF4-FFF2-40B4-BE49-F238E27FC236}">
                <a16:creationId xmlns:a16="http://schemas.microsoft.com/office/drawing/2014/main" id="{018F7E10-D815-438A-BDB2-1750860BF705}"/>
              </a:ext>
            </a:extLst>
          </p:cNvPr>
          <p:cNvGraphicFramePr/>
          <p:nvPr/>
        </p:nvGraphicFramePr>
        <p:xfrm>
          <a:off xmlns:a="http://schemas.openxmlformats.org/drawingml/2006/main" x="685800" y="1438275"/>
          <a:ext xmlns:a="http://schemas.openxmlformats.org/drawingml/2006/main" cx="10820400" cy="3714750"/>
        </p:xfrm>
        <a:graphic xmlns:a="http://schemas.openxmlformats.org/drawingml/2006/main">
          <a:graphicData uri="http://schemas.openxmlformats.org/drawingml/2006/table">
            <a:tbl>
              <a:tblPr/>
              <a:tblGrid>
                <a:gridCol w="4095750"/>
                <a:gridCol w="6724650"/>
              </a:tblGrid>
              <a:tr h="619125">
                <a:tc>
                  <a:txBody>
                    <a:bodyPr lIns="133350" tIns="114300" rIns="133350" bIns="95250"/>
                    <a:lstStyle/>
                    <a:p>
                      <a:pPr algn="l"/>
                      <a:r>
                        <a:rPr sz="1800" b="1">
                          <a:solidFill>
                            <a:srgbClr val="FFFFFF"/>
                          </a:solidFill>
                          <a:latin typeface="Arial"/>
                          <a:ea typeface="Arial"/>
                          <a:cs typeface="Arial"/>
                        </a:rPr>
                        <a:t>Objeto</a:t>
                      </a:r>
                    </a:p>
                  </a:txBody>
                  <a:tcPr marL="91440" marR="91440" marT="45720" marB="45720">
                    <a:solidFill>
                      <a:srgbClr val="102D44"/>
                    </a:solidFill>
                  </a:tcPr>
                </a:tc>
                <a:tc>
                  <a:txBody>
                    <a:bodyPr lIns="133350" tIns="114300" rIns="133350" bIns="95250"/>
                    <a:lstStyle/>
                    <a:p>
                      <a:pPr algn="l"/>
                      <a:r>
                        <a:rPr sz="1800" b="1">
                          <a:solidFill>
                            <a:srgbClr val="FFFFFF"/>
                          </a:solidFill>
                          <a:latin typeface="Arial"/>
                          <a:ea typeface="Arial"/>
                          <a:cs typeface="Arial"/>
                        </a:rPr>
                        <a:t>Propósito</a:t>
                      </a:r>
                    </a:p>
                  </a:txBody>
                  <a:tcPr marL="91440" marR="91440" marT="45720" marB="45720">
                    <a:solidFill>
                      <a:srgbClr val="102D44"/>
                    </a:solidFill>
                  </a:tcPr>
                </a:tc>
              </a:tr>
              <a:tr h="619125">
                <a:tc>
                  <a:txBody>
                    <a:bodyPr lIns="133350" tIns="114300" rIns="133350" bIns="95250"/>
                    <a:lstStyle/>
                    <a:p>
                      <a:pPr algn="l"/>
                      <a:r>
                        <a:rPr sz="1800" b="0">
                          <a:solidFill>
                            <a:srgbClr val="263B4A"/>
                          </a:solidFill>
                          <a:latin typeface="Arial"/>
                          <a:ea typeface="Arial"/>
                          <a:cs typeface="Arial"/>
                        </a:rPr>
                        <a:t>dim_product y dim_customer</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Catálogo versionado y clientes sintéticos</a:t>
                      </a:r>
                    </a:p>
                  </a:txBody>
                  <a:tcPr marL="91440" marR="91440" marT="45720" marB="45720">
                    <a:solidFill>
                      <a:srgbClr val="FFFFFF"/>
                    </a:solidFill>
                  </a:tcPr>
                </a:tc>
              </a:tr>
              <a:tr h="619125">
                <a:tc>
                  <a:txBody>
                    <a:bodyPr lIns="133350" tIns="114300" rIns="133350" bIns="95250"/>
                    <a:lstStyle/>
                    <a:p>
                      <a:pPr algn="l"/>
                      <a:r>
                        <a:rPr sz="1800" b="0">
                          <a:solidFill>
                            <a:srgbClr val="263B4A"/>
                          </a:solidFill>
                          <a:latin typeface="Arial"/>
                          <a:ea typeface="Arial"/>
                          <a:cs typeface="Arial"/>
                        </a:rPr>
                        <a:t>fact_event y fact_event_line</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Eventos y líneas con particiones mensuales</a:t>
                      </a:r>
                    </a:p>
                  </a:txBody>
                  <a:tcPr marL="91440" marR="91440" marT="45720" marB="45720">
                    <a:solidFill>
                      <a:srgbClr val="EDF4F6"/>
                    </a:solidFill>
                  </a:tcPr>
                </a:tc>
              </a:tr>
              <a:tr h="619125">
                <a:tc>
                  <a:txBody>
                    <a:bodyPr lIns="133350" tIns="114300" rIns="133350" bIns="95250"/>
                    <a:lstStyle/>
                    <a:p>
                      <a:pPr algn="l"/>
                      <a:r>
                        <a:rPr sz="1800" b="0">
                          <a:solidFill>
                            <a:srgbClr val="263B4A"/>
                          </a:solidFill>
                          <a:latin typeface="Arial"/>
                          <a:ea typeface="Arial"/>
                          <a:cs typeface="Arial"/>
                        </a:rPr>
                        <a:t>event_registry</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Unicidad global y control de repeticiones</a:t>
                      </a:r>
                    </a:p>
                  </a:txBody>
                  <a:tcPr marL="91440" marR="91440" marT="45720" marB="45720">
                    <a:solidFill>
                      <a:srgbClr val="FFFFFF"/>
                    </a:solidFill>
                  </a:tcPr>
                </a:tc>
              </a:tr>
              <a:tr h="619125">
                <a:tc>
                  <a:txBody>
                    <a:bodyPr lIns="133350" tIns="114300" rIns="133350" bIns="95250"/>
                    <a:lstStyle/>
                    <a:p>
                      <a:pPr algn="l"/>
                      <a:r>
                        <a:rPr sz="1800" b="0">
                          <a:solidFill>
                            <a:srgbClr val="263B4A"/>
                          </a:solidFill>
                          <a:latin typeface="Arial"/>
                          <a:ea typeface="Arial"/>
                          <a:cs typeface="Arial"/>
                        </a:rPr>
                        <a:t>pipeline_runs y quality_reject</a:t>
                      </a:r>
                    </a:p>
                  </a:txBody>
                  <a:tcPr marL="91440" marR="91440" marT="45720" marB="45720">
                    <a:solidFill>
                      <a:srgbClr val="EDF4F6"/>
                    </a:solidFill>
                  </a:tcPr>
                </a:tc>
                <a:tc>
                  <a:txBody>
                    <a:bodyPr lIns="133350" tIns="114300" rIns="133350" bIns="95250"/>
                    <a:lstStyle/>
                    <a:p>
                      <a:pPr algn="l"/>
                      <a:r>
                        <a:rPr sz="1800" b="0">
                          <a:solidFill>
                            <a:srgbClr val="263B4A"/>
                          </a:solidFill>
                          <a:latin typeface="Arial"/>
                          <a:ea typeface="Arial"/>
                          <a:cs typeface="Arial"/>
                        </a:rPr>
                        <a:t>Trazabilidad, rendimiento y rechazos</a:t>
                      </a:r>
                    </a:p>
                  </a:txBody>
                  <a:tcPr marL="91440" marR="91440" marT="45720" marB="45720">
                    <a:solidFill>
                      <a:srgbClr val="EDF4F6"/>
                    </a:solidFill>
                  </a:tcPr>
                </a:tc>
              </a:tr>
              <a:tr h="619125">
                <a:tc>
                  <a:txBody>
                    <a:bodyPr lIns="133350" tIns="114300" rIns="133350" bIns="95250"/>
                    <a:lstStyle/>
                    <a:p>
                      <a:pPr algn="l"/>
                      <a:r>
                        <a:rPr sz="1800" b="0">
                          <a:solidFill>
                            <a:srgbClr val="263B4A"/>
                          </a:solidFill>
                          <a:latin typeface="Arial"/>
                          <a:ea typeface="Arial"/>
                          <a:cs typeface="Arial"/>
                        </a:rPr>
                        <a:t>staging y pending_event</a:t>
                      </a:r>
                    </a:p>
                  </a:txBody>
                  <a:tcPr marL="91440" marR="91440" marT="45720" marB="45720">
                    <a:solidFill>
                      <a:srgbClr val="FFFFFF"/>
                    </a:solidFill>
                  </a:tcPr>
                </a:tc>
                <a:tc>
                  <a:txBody>
                    <a:bodyPr lIns="133350" tIns="114300" rIns="133350" bIns="95250"/>
                    <a:lstStyle/>
                    <a:p>
                      <a:pPr algn="l"/>
                      <a:r>
                        <a:rPr sz="1800" b="0">
                          <a:solidFill>
                            <a:srgbClr val="263B4A"/>
                          </a:solidFill>
                          <a:latin typeface="Arial"/>
                          <a:ea typeface="Arial"/>
                          <a:cs typeface="Arial"/>
                        </a:rPr>
                        <a:t>Publicación transaccional y referencias pendientes</a:t>
                      </a:r>
                    </a:p>
                  </a:txBody>
                  <a:tcPr marL="91440" marR="91440" marT="45720" marB="45720">
                    <a:solidFill>
                      <a:srgbClr val="FFFFFF"/>
                    </a:solidFill>
                  </a:tcPr>
                </a:tc>
              </a:tr>
            </a:tbl>
          </a:graphicData>
        </a:graphic>
      </p:graphicFrame>
      <p:sp>
        <p:nvSpPr>
          <p:cNvPr id="4" name="backup-summary">
            <a:extLst xmlns:a="http://schemas.openxmlformats.org/drawingml/2006/main">
              <a:ext uri="{FF2B5EF4-FFF2-40B4-BE49-F238E27FC236}">
                <a16:creationId xmlns:a16="http://schemas.microsoft.com/office/drawing/2014/main" id="{D113CB15-C5CA-44CF-A0C2-E942894AC743}"/>
              </a:ext>
            </a:extLst>
          </p:cNvPr>
          <p:cNvSpPr>
            <a:spLocks xmlns:a="http://schemas.openxmlformats.org/drawingml/2006/main" noGrp="1"/>
          </p:cNvSpPr>
          <p:nvPr/>
        </p:nvSpPr>
        <p:spPr>
          <a:xfrm xmlns:a="http://schemas.openxmlformats.org/drawingml/2006/main">
            <a:off x="685800" y="55054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00" b="1">
                <a:solidFill>
                  <a:srgbClr val="087F8C"/>
                </a:solidFill>
                <a:latin typeface="Arial"/>
                <a:ea typeface="Arial"/>
                <a:cs typeface="Arial"/>
              </a:defRPr>
            </a:defPPr>
          </a:lstStyle>
          <a:p xmlns:a="http://schemas.openxmlformats.org/drawingml/2006/main">
            <a:pPr algn="l">
              <a:defRPr sz="2000" b="1">
                <a:solidFill>
                  <a:srgbClr val="087F8C"/>
                </a:solidFill>
                <a:latin typeface="Arial"/>
                <a:ea typeface="Arial"/>
                <a:cs typeface="Arial"/>
              </a:defRPr>
            </a:pPr>
            <a:r>
              <a:rPr sz="2000" b="1">
                <a:solidFill>
                  <a:srgbClr val="087F8C"/>
                </a:solidFill>
                <a:latin typeface="Arial"/>
                <a:ea typeface="Arial"/>
                <a:cs typeface="Arial"/>
              </a:rPr>
              <a:t>Backup final restaurado: 8 tablas reconciliadas con SHA-256, 12,98 MB</a:t>
            </a:r>
          </a:p>
        </p:txBody>
      </p:sp>
    </p:spTree>
    <p:extLst>
      <p:ext uri="{BB962C8B-B14F-4D97-AF65-F5344CB8AC3E}">
        <p14:creationId xmlns:p14="http://schemas.microsoft.com/office/powerpoint/2010/main" val="2961419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1C1CF19-31AB-413C-B095-19C8280D89DC}"/>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Seis análisis para decisiones de negocio</a:t>
            </a:r>
          </a:p>
        </p:txBody>
      </p:sp>
      <p:sp>
        <p:nvSpPr>
          <p:cNvPr id="2" name="footer">
            <a:extLst xmlns:a="http://schemas.openxmlformats.org/drawingml/2006/main">
              <a:ext uri="{FF2B5EF4-FFF2-40B4-BE49-F238E27FC236}">
                <a16:creationId xmlns:a16="http://schemas.microsoft.com/office/drawing/2014/main" id="{440B96F8-BE36-4C12-B393-04CBFBD06265}"/>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7/10</a:t>
            </a:r>
          </a:p>
        </p:txBody>
      </p:sp>
      <p:graphicFrame>
        <p:nvGraphicFramePr>
          <p:cNvPr id="3" name="">
            <a:extLst xmlns:a="http://schemas.openxmlformats.org/drawingml/2006/main">
              <a:ext uri="{FF2B5EF4-FFF2-40B4-BE49-F238E27FC236}">
                <a16:creationId xmlns:a16="http://schemas.microsoft.com/office/drawing/2014/main" id="{096BA583-0B18-477B-8107-F0FB37AFA5A7}"/>
              </a:ext>
            </a:extLst>
          </p:cNvPr>
          <p:cNvGraphicFramePr/>
          <p:nvPr/>
        </p:nvGraphicFramePr>
        <p:xfrm>
          <a:off xmlns:a="http://schemas.openxmlformats.org/drawingml/2006/main" x="685800" y="1400175"/>
          <a:ext xmlns:a="http://schemas.openxmlformats.org/drawingml/2006/main" cx="10820400" cy="4248150"/>
        </p:xfrm>
        <a:graphic xmlns:a="http://schemas.openxmlformats.org/drawingml/2006/main">
          <a:graphicData uri="http://schemas.openxmlformats.org/drawingml/2006/table">
            <a:tbl>
              <a:tblPr/>
              <a:tblGrid>
                <a:gridCol w="5143500"/>
                <a:gridCol w="5676900"/>
              </a:tblGrid>
              <a:tr h="606879">
                <a:tc>
                  <a:txBody>
                    <a:bodyPr lIns="133350" tIns="114300" rIns="133350" bIns="95250"/>
                    <a:lstStyle/>
                    <a:p>
                      <a:pPr algn="l"/>
                      <a:r>
                        <a:rPr sz="1700" b="1">
                          <a:solidFill>
                            <a:srgbClr val="FFFFFF"/>
                          </a:solidFill>
                          <a:latin typeface="Arial"/>
                          <a:ea typeface="Arial"/>
                          <a:cs typeface="Arial"/>
                        </a:rPr>
                        <a:t>Pregunta</a:t>
                      </a:r>
                    </a:p>
                  </a:txBody>
                  <a:tcPr marL="91440" marR="91440" marT="45720" marB="45720">
                    <a:solidFill>
                      <a:srgbClr val="102D44"/>
                    </a:solidFill>
                  </a:tcPr>
                </a:tc>
                <a:tc>
                  <a:txBody>
                    <a:bodyPr lIns="133350" tIns="114300" rIns="133350" bIns="95250"/>
                    <a:lstStyle/>
                    <a:p>
                      <a:pPr algn="l"/>
                      <a:r>
                        <a:rPr sz="1700" b="1">
                          <a:solidFill>
                            <a:srgbClr val="FFFFFF"/>
                          </a:solidFill>
                          <a:latin typeface="Arial"/>
                          <a:ea typeface="Arial"/>
                          <a:cs typeface="Arial"/>
                        </a:rPr>
                        <a:t>Medida</a:t>
                      </a:r>
                    </a:p>
                  </a:txBody>
                  <a:tcPr marL="91440" marR="91440" marT="45720" marB="45720">
                    <a:solidFill>
                      <a:srgbClr val="102D44"/>
                    </a:solidFill>
                  </a:tcPr>
                </a:tc>
              </a:tr>
              <a:tr h="606879">
                <a:tc>
                  <a:txBody>
                    <a:bodyPr lIns="133350" tIns="114300" rIns="133350" bIns="95250"/>
                    <a:lstStyle/>
                    <a:p>
                      <a:pPr algn="l"/>
                      <a:r>
                        <a:rPr sz="1700" b="0">
                          <a:solidFill>
                            <a:srgbClr val="263B4A"/>
                          </a:solidFill>
                          <a:latin typeface="Arial"/>
                          <a:ea typeface="Arial"/>
                          <a:cs typeface="Arial"/>
                        </a:rPr>
                        <a:t>Q1  Evolución por canal</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Pagos menos reembolsos por día</a:t>
                      </a:r>
                    </a:p>
                  </a:txBody>
                  <a:tcPr marL="91440" marR="91440" marT="45720" marB="45720">
                    <a:solidFill>
                      <a:srgbClr val="FFFFFF"/>
                    </a:solidFill>
                  </a:tcPr>
                </a:tc>
              </a:tr>
              <a:tr h="606879">
                <a:tc>
                  <a:txBody>
                    <a:bodyPr lIns="133350" tIns="114300" rIns="133350" bIns="95250"/>
                    <a:lstStyle/>
                    <a:p>
                      <a:pPr algn="l"/>
                      <a:r>
                        <a:rPr sz="1700" b="0">
                          <a:solidFill>
                            <a:srgbClr val="263B4A"/>
                          </a:solidFill>
                          <a:latin typeface="Arial"/>
                          <a:ea typeface="Arial"/>
                          <a:cs typeface="Arial"/>
                        </a:rPr>
                        <a:t>Q2  Productos y categorías líderes</a:t>
                      </a:r>
                    </a:p>
                  </a:txBody>
                  <a:tcPr marL="91440" marR="91440" marT="45720" marB="45720">
                    <a:solidFill>
                      <a:srgbClr val="EDF4F6"/>
                    </a:solidFill>
                  </a:tcPr>
                </a:tc>
                <a:tc>
                  <a:txBody>
                    <a:bodyPr lIns="133350" tIns="114300" rIns="133350" bIns="95250"/>
                    <a:lstStyle/>
                    <a:p>
                      <a:pPr algn="l"/>
                      <a:r>
                        <a:rPr sz="1700" b="0">
                          <a:solidFill>
                            <a:srgbClr val="263B4A"/>
                          </a:solidFill>
                          <a:latin typeface="Arial"/>
                          <a:ea typeface="Arial"/>
                          <a:cs typeface="Arial"/>
                        </a:rPr>
                        <a:t>Unidades e ingresos, con devoluciones separadas</a:t>
                      </a:r>
                    </a:p>
                  </a:txBody>
                  <a:tcPr marL="91440" marR="91440" marT="45720" marB="45720">
                    <a:solidFill>
                      <a:srgbClr val="EDF4F6"/>
                    </a:solidFill>
                  </a:tcPr>
                </a:tc>
              </a:tr>
              <a:tr h="606879">
                <a:tc>
                  <a:txBody>
                    <a:bodyPr lIns="133350" tIns="114300" rIns="133350" bIns="95250"/>
                    <a:lstStyle/>
                    <a:p>
                      <a:pPr algn="l"/>
                      <a:r>
                        <a:rPr sz="1700" b="0">
                          <a:solidFill>
                            <a:srgbClr val="263B4A"/>
                          </a:solidFill>
                          <a:latin typeface="Arial"/>
                          <a:ea typeface="Arial"/>
                          <a:cs typeface="Arial"/>
                        </a:rPr>
                        <a:t>Q3  Ticket promedio por canal</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Total pagado / pedidos pagados distintos</a:t>
                      </a:r>
                    </a:p>
                  </a:txBody>
                  <a:tcPr marL="91440" marR="91440" marT="45720" marB="45720">
                    <a:solidFill>
                      <a:srgbClr val="FFFFFF"/>
                    </a:solidFill>
                  </a:tcPr>
                </a:tc>
              </a:tr>
              <a:tr h="606879">
                <a:tc>
                  <a:txBody>
                    <a:bodyPr lIns="133350" tIns="114300" rIns="133350" bIns="95250"/>
                    <a:lstStyle/>
                    <a:p>
                      <a:pPr algn="l"/>
                      <a:r>
                        <a:rPr sz="1700" b="0">
                          <a:solidFill>
                            <a:srgbClr val="263B4A"/>
                          </a:solidFill>
                          <a:latin typeface="Arial"/>
                          <a:ea typeface="Arial"/>
                          <a:cs typeface="Arial"/>
                        </a:rPr>
                        <a:t>Q4  Cancelación por cohorte</a:t>
                      </a:r>
                    </a:p>
                  </a:txBody>
                  <a:tcPr marL="91440" marR="91440" marT="45720" marB="45720">
                    <a:solidFill>
                      <a:srgbClr val="EDF4F6"/>
                    </a:solidFill>
                  </a:tcPr>
                </a:tc>
                <a:tc>
                  <a:txBody>
                    <a:bodyPr lIns="133350" tIns="114300" rIns="133350" bIns="95250"/>
                    <a:lstStyle/>
                    <a:p>
                      <a:pPr algn="l"/>
                      <a:r>
                        <a:rPr sz="1700" b="0">
                          <a:solidFill>
                            <a:srgbClr val="263B4A"/>
                          </a:solidFill>
                          <a:latin typeface="Arial"/>
                          <a:ea typeface="Arial"/>
                          <a:cs typeface="Arial"/>
                        </a:rPr>
                        <a:t>Cancelados / creados de la misma cohorte</a:t>
                      </a:r>
                    </a:p>
                  </a:txBody>
                  <a:tcPr marL="91440" marR="91440" marT="45720" marB="45720">
                    <a:solidFill>
                      <a:srgbClr val="EDF4F6"/>
                    </a:solidFill>
                  </a:tcPr>
                </a:tc>
              </a:tr>
              <a:tr h="606879">
                <a:tc>
                  <a:txBody>
                    <a:bodyPr lIns="133350" tIns="114300" rIns="133350" bIns="95250"/>
                    <a:lstStyle/>
                    <a:p>
                      <a:pPr algn="l"/>
                      <a:r>
                        <a:rPr sz="1700" b="0">
                          <a:solidFill>
                            <a:srgbClr val="263B4A"/>
                          </a:solidFill>
                          <a:latin typeface="Arial"/>
                          <a:ea typeface="Arial"/>
                          <a:cs typeface="Arial"/>
                        </a:rPr>
                        <a:t>Q5  Productos con más devoluciones</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Unidades devueltas / vendidas en cohortes maduras</a:t>
                      </a:r>
                    </a:p>
                  </a:txBody>
                  <a:tcPr marL="91440" marR="91440" marT="45720" marB="45720">
                    <a:solidFill>
                      <a:srgbClr val="FFFFFF"/>
                    </a:solidFill>
                  </a:tcPr>
                </a:tc>
              </a:tr>
              <a:tr h="606879">
                <a:tc>
                  <a:txBody>
                    <a:bodyPr lIns="133350" tIns="114300" rIns="133350" bIns="95250"/>
                    <a:lstStyle/>
                    <a:p>
                      <a:pPr algn="l"/>
                      <a:r>
                        <a:rPr sz="1700" b="0">
                          <a:solidFill>
                            <a:srgbClr val="263B4A"/>
                          </a:solidFill>
                          <a:latin typeface="Arial"/>
                          <a:ea typeface="Arial"/>
                          <a:cs typeface="Arial"/>
                        </a:rPr>
                        <a:t>Q6  Clientes de mayor valor</a:t>
                      </a:r>
                    </a:p>
                  </a:txBody>
                  <a:tcPr marL="91440" marR="91440" marT="45720" marB="45720">
                    <a:solidFill>
                      <a:srgbClr val="EDF4F6"/>
                    </a:solidFill>
                  </a:tcPr>
                </a:tc>
                <a:tc>
                  <a:txBody>
                    <a:bodyPr lIns="133350" tIns="114300" rIns="133350" bIns="95250"/>
                    <a:lstStyle/>
                    <a:p>
                      <a:pPr algn="l"/>
                      <a:r>
                        <a:rPr sz="1700" b="0">
                          <a:solidFill>
                            <a:srgbClr val="263B4A"/>
                          </a:solidFill>
                          <a:latin typeface="Arial"/>
                          <a:ea typeface="Arial"/>
                          <a:cs typeface="Arial"/>
                        </a:rPr>
                        <a:t>Ingreso neto observado y frecuencia de compra</a:t>
                      </a:r>
                    </a:p>
                  </a:txBody>
                  <a:tcPr marL="91440" marR="91440" marT="45720" marB="45720">
                    <a:solidFill>
                      <a:srgbClr val="EDF4F6"/>
                    </a:solidFill>
                  </a:tcPr>
                </a:tc>
              </a:tr>
            </a:tbl>
          </a:graphicData>
        </a:graphic>
      </p:graphicFrame>
      <p:sp>
        <p:nvSpPr>
          <p:cNvPr id="4" name="performance-summary">
            <a:extLst xmlns:a="http://schemas.openxmlformats.org/drawingml/2006/main">
              <a:ext uri="{FF2B5EF4-FFF2-40B4-BE49-F238E27FC236}">
                <a16:creationId xmlns:a16="http://schemas.microsoft.com/office/drawing/2014/main" id="{2655D508-4E8C-4A6B-8A62-1F0E8E2B617E}"/>
              </a:ext>
            </a:extLst>
          </p:cNvPr>
          <p:cNvSpPr>
            <a:spLocks xmlns:a="http://schemas.openxmlformats.org/drawingml/2006/main" noGrp="1"/>
          </p:cNvSpPr>
          <p:nvPr/>
        </p:nvSpPr>
        <p:spPr>
          <a:xfrm xmlns:a="http://schemas.openxmlformats.org/drawingml/2006/main">
            <a:off x="685800" y="58959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00" b="1">
                <a:solidFill>
                  <a:srgbClr val="087F8C"/>
                </a:solidFill>
                <a:latin typeface="Arial"/>
                <a:ea typeface="Arial"/>
                <a:cs typeface="Arial"/>
              </a:defRPr>
            </a:defPPr>
          </a:lstStyle>
          <a:p xmlns:a="http://schemas.openxmlformats.org/drawingml/2006/main">
            <a:pPr algn="l">
              <a:defRPr sz="1700" b="1">
                <a:solidFill>
                  <a:srgbClr val="087F8C"/>
                </a:solidFill>
                <a:latin typeface="Arial"/>
                <a:ea typeface="Arial"/>
                <a:cs typeface="Arial"/>
              </a:defRPr>
            </a:pPr>
            <a:r>
              <a:rPr sz="1700" b="1">
                <a:solidFill>
                  <a:srgbClr val="087F8C"/>
                </a:solidFill>
                <a:latin typeface="Arial"/>
                <a:ea typeface="Arial"/>
                <a:cs typeface="Arial"/>
              </a:rPr>
              <a:t>BASE + DELTA: rango de medianas por consulta, 28,85 a 192,49 ms. Primera medición y 5 repeticiones</a:t>
            </a:r>
          </a:p>
        </p:txBody>
      </p:sp>
    </p:spTree>
    <p:extLst>
      <p:ext uri="{BB962C8B-B14F-4D97-AF65-F5344CB8AC3E}">
        <p14:creationId xmlns:p14="http://schemas.microsoft.com/office/powerpoint/2010/main" val="6978932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1BD252F-F582-48CA-8496-0702388199EC}"/>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Dashboards de operación y negocio</a:t>
            </a:r>
          </a:p>
        </p:txBody>
      </p:sp>
      <p:sp>
        <p:nvSpPr>
          <p:cNvPr id="2" name="footer">
            <a:extLst xmlns:a="http://schemas.openxmlformats.org/drawingml/2006/main">
              <a:ext uri="{FF2B5EF4-FFF2-40B4-BE49-F238E27FC236}">
                <a16:creationId xmlns:a16="http://schemas.microsoft.com/office/drawing/2014/main" id="{D85E800A-7295-47A6-BA30-CF8F869C978D}"/>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8/10</a:t>
            </a:r>
          </a:p>
        </p:txBody>
      </p:sp>
      <p:sp>
        <p:nvSpPr>
          <p:cNvPr id="3" name="dash-ops-heading">
            <a:extLst xmlns:a="http://schemas.openxmlformats.org/drawingml/2006/main">
              <a:ext uri="{FF2B5EF4-FFF2-40B4-BE49-F238E27FC236}">
                <a16:creationId xmlns:a16="http://schemas.microsoft.com/office/drawing/2014/main" id="{66FDD2F7-F607-44C2-A113-0E3AFFE01A35}"/>
              </a:ext>
            </a:extLst>
          </p:cNvPr>
          <p:cNvSpPr>
            <a:spLocks xmlns:a="http://schemas.openxmlformats.org/drawingml/2006/main" noGrp="1"/>
          </p:cNvSpPr>
          <p:nvPr/>
        </p:nvSpPr>
        <p:spPr>
          <a:xfrm xmlns:a="http://schemas.openxmlformats.org/drawingml/2006/main">
            <a:off x="685800" y="1371600"/>
            <a:ext cx="5200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1">
                <a:solidFill>
                  <a:srgbClr val="087F8C"/>
                </a:solidFill>
                <a:latin typeface="Arial"/>
                <a:ea typeface="Arial"/>
                <a:cs typeface="Arial"/>
              </a:defRPr>
            </a:defPPr>
          </a:lstStyle>
          <a:p xmlns:a="http://schemas.openxmlformats.org/drawingml/2006/main">
            <a:pPr algn="l">
              <a:defRPr sz="2200" b="1">
                <a:solidFill>
                  <a:srgbClr val="087F8C"/>
                </a:solidFill>
                <a:latin typeface="Arial"/>
                <a:ea typeface="Arial"/>
                <a:cs typeface="Arial"/>
              </a:defRPr>
            </a:pPr>
            <a:r>
              <a:rPr sz="2200" b="1">
                <a:solidFill>
                  <a:srgbClr val="087F8C"/>
                </a:solidFill>
                <a:latin typeface="Arial"/>
                <a:ea typeface="Arial"/>
                <a:cs typeface="Arial"/>
              </a:rPr>
              <a:t>Operación</a:t>
            </a:r>
          </a:p>
        </p:txBody>
      </p:sp>
      <p:sp>
        <p:nvSpPr>
          <p:cNvPr id="4" name="dash-business-heading">
            <a:extLst xmlns:a="http://schemas.openxmlformats.org/drawingml/2006/main">
              <a:ext uri="{FF2B5EF4-FFF2-40B4-BE49-F238E27FC236}">
                <a16:creationId xmlns:a16="http://schemas.microsoft.com/office/drawing/2014/main" id="{96EFEE03-2C08-498F-9470-32F1D870275A}"/>
              </a:ext>
            </a:extLst>
          </p:cNvPr>
          <p:cNvSpPr>
            <a:spLocks xmlns:a="http://schemas.openxmlformats.org/drawingml/2006/main" noGrp="1"/>
          </p:cNvSpPr>
          <p:nvPr/>
        </p:nvSpPr>
        <p:spPr>
          <a:xfrm xmlns:a="http://schemas.openxmlformats.org/drawingml/2006/main">
            <a:off x="6305550" y="1371600"/>
            <a:ext cx="5200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1">
                <a:solidFill>
                  <a:srgbClr val="087F8C"/>
                </a:solidFill>
                <a:latin typeface="Arial"/>
                <a:ea typeface="Arial"/>
                <a:cs typeface="Arial"/>
              </a:defRPr>
            </a:defPPr>
          </a:lstStyle>
          <a:p xmlns:a="http://schemas.openxmlformats.org/drawingml/2006/main">
            <a:pPr algn="l">
              <a:defRPr sz="2200" b="1">
                <a:solidFill>
                  <a:srgbClr val="087F8C"/>
                </a:solidFill>
                <a:latin typeface="Arial"/>
                <a:ea typeface="Arial"/>
                <a:cs typeface="Arial"/>
              </a:defRPr>
            </a:pPr>
            <a:r>
              <a:rPr sz="2200" b="1">
                <a:solidFill>
                  <a:srgbClr val="087F8C"/>
                </a:solidFill>
                <a:latin typeface="Arial"/>
                <a:ea typeface="Arial"/>
                <a:cs typeface="Arial"/>
              </a:rPr>
              <a:t>Negocio</a:t>
            </a:r>
          </a:p>
        </p:txBody>
      </p:sp>
      <p:pic>
        <p:nvPicPr>
          <p:cNvPr id="5" name="">
            <a:extLst xmlns:a="http://schemas.openxmlformats.org/drawingml/2006/main">
              <a:ext uri="{FF2B5EF4-FFF2-40B4-BE49-F238E27FC236}">
                <a16:creationId xmlns:a16="http://schemas.microsoft.com/office/drawing/2014/main" id="{837EF4D0-4B51-4B88-B07A-3B32B87D7355}"/>
              </a:ext>
            </a:extLst>
          </p:cNvPr>
          <p:cNvPicPr>
            <a:picLocks xmlns:a="http://schemas.openxmlformats.org/drawingml/2006/main" noChangeAspect="1"/>
          </p:cNvPicPr>
          <p:nvPr/>
        </p:nvPicPr>
        <p:blipFill>
          <a:blip xmlns:r="http://schemas.openxmlformats.org/officeDocument/2006/relationships" xmlns:a="http://schemas.openxmlformats.org/drawingml/2006/main" r:embed="R4901ee3416274924"/>
          <a:stretch xmlns:a="http://schemas.openxmlformats.org/drawingml/2006/main"/>
        </p:blipFill>
        <p:spPr>
          <a:xfrm xmlns:a="http://schemas.openxmlformats.org/drawingml/2006/main">
            <a:off x="781050" y="2082800"/>
            <a:ext cx="2647950" cy="3530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0B9538D-37FB-4A8F-829C-9AFA6D016B91}"/>
              </a:ext>
            </a:extLst>
          </p:cNvPr>
          <p:cNvPicPr>
            <a:picLocks xmlns:a="http://schemas.openxmlformats.org/drawingml/2006/main" noChangeAspect="1"/>
          </p:cNvPicPr>
          <p:nvPr/>
        </p:nvPicPr>
        <p:blipFill>
          <a:blip xmlns:r="http://schemas.openxmlformats.org/officeDocument/2006/relationships" xmlns:a="http://schemas.openxmlformats.org/drawingml/2006/main" r:embed="R1aba444f44ad4347"/>
          <a:stretch xmlns:a="http://schemas.openxmlformats.org/drawingml/2006/main"/>
        </p:blipFill>
        <p:spPr>
          <a:xfrm xmlns:a="http://schemas.openxmlformats.org/drawingml/2006/main">
            <a:off x="6400800" y="2082800"/>
            <a:ext cx="2647950" cy="3530600"/>
          </a:xfrm>
          <a:prstGeom xmlns:a="http://schemas.openxmlformats.org/drawingml/2006/main" prst="rect">
            <a:avLst/>
          </a:prstGeom>
        </p:spPr>
      </p:pic>
      <p:sp>
        <p:nvSpPr>
          <p:cNvPr id="7" name="dash-ops-body">
            <a:extLst xmlns:a="http://schemas.openxmlformats.org/drawingml/2006/main">
              <a:ext uri="{FF2B5EF4-FFF2-40B4-BE49-F238E27FC236}">
                <a16:creationId xmlns:a16="http://schemas.microsoft.com/office/drawing/2014/main" id="{D2D50399-DBD5-4415-94AA-6FAC16262BF9}"/>
              </a:ext>
            </a:extLst>
          </p:cNvPr>
          <p:cNvSpPr>
            <a:spLocks xmlns:a="http://schemas.openxmlformats.org/drawingml/2006/main" noGrp="1"/>
          </p:cNvSpPr>
          <p:nvPr/>
        </p:nvSpPr>
        <p:spPr>
          <a:xfrm xmlns:a="http://schemas.openxmlformats.org/drawingml/2006/main">
            <a:off x="3733800" y="2047875"/>
            <a:ext cx="2095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63B4A"/>
                </a:solidFill>
                <a:latin typeface="Arial"/>
                <a:ea typeface="Arial"/>
                <a:cs typeface="Arial"/>
              </a:defRPr>
            </a:defPPr>
          </a:lstStyle>
          <a:p xmlns:a="http://schemas.openxmlformats.org/drawingml/2006/main">
            <a:pPr algn="l">
              <a:defRPr sz="1800" b="0">
                <a:solidFill>
                  <a:srgbClr val="263B4A"/>
                </a:solidFill>
                <a:latin typeface="Arial"/>
                <a:ea typeface="Arial"/>
                <a:cs typeface="Arial"/>
              </a:defRPr>
            </a:pPr>
            <a:r>
              <a:rPr sz="1800" b="0">
                <a:solidFill>
                  <a:srgbClr val="263B4A"/>
                </a:solidFill>
                <a:latin typeface="Arial"/>
                <a:ea typeface="Arial"/>
                <a:cs typeface="Arial"/>
              </a:rPr>
              <a:t>Lote publicado y estado del procesamiento</a:t>
            </a:r>
          </a:p>
          <a:p xmlns:a="http://schemas.openxmlformats.org/drawingml/2006/main">
            <a:r>
              <a:t/>
            </a:r>
          </a:p>
          <a:p xmlns:a="http://schemas.openxmlformats.org/drawingml/2006/main">
            <a:pPr algn="l">
              <a:defRPr sz="1800" b="0">
                <a:solidFill>
                  <a:srgbClr val="263B4A"/>
                </a:solidFill>
                <a:latin typeface="Arial"/>
                <a:ea typeface="Arial"/>
                <a:cs typeface="Arial"/>
              </a:defRPr>
            </a:pPr>
            <a:r>
              <a:rPr sz="1800" b="0">
                <a:solidFill>
                  <a:srgbClr val="263B4A"/>
                </a:solidFill>
                <a:latin typeface="Arial"/>
                <a:ea typeface="Arial"/>
                <a:cs typeface="Arial"/>
              </a:rPr>
              <a:t>Latencia desde NiFi, incluida la espera del batch</a:t>
            </a:r>
          </a:p>
        </p:txBody>
      </p:sp>
      <p:sp>
        <p:nvSpPr>
          <p:cNvPr id="8" name="dash-business-body">
            <a:extLst xmlns:a="http://schemas.openxmlformats.org/drawingml/2006/main">
              <a:ext uri="{FF2B5EF4-FFF2-40B4-BE49-F238E27FC236}">
                <a16:creationId xmlns:a16="http://schemas.microsoft.com/office/drawing/2014/main" id="{BFE700E7-31B8-40E8-8DC7-1708E68BD36B}"/>
              </a:ext>
            </a:extLst>
          </p:cNvPr>
          <p:cNvSpPr>
            <a:spLocks xmlns:a="http://schemas.openxmlformats.org/drawingml/2006/main" noGrp="1"/>
          </p:cNvSpPr>
          <p:nvPr/>
        </p:nvSpPr>
        <p:spPr>
          <a:xfrm xmlns:a="http://schemas.openxmlformats.org/drawingml/2006/main">
            <a:off x="9353550" y="2047875"/>
            <a:ext cx="2095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63B4A"/>
                </a:solidFill>
                <a:latin typeface="Arial"/>
                <a:ea typeface="Arial"/>
                <a:cs typeface="Arial"/>
              </a:defRPr>
            </a:defPPr>
          </a:lstStyle>
          <a:p xmlns:a="http://schemas.openxmlformats.org/drawingml/2006/main">
            <a:pPr algn="l">
              <a:defRPr sz="1800" b="0">
                <a:solidFill>
                  <a:srgbClr val="263B4A"/>
                </a:solidFill>
                <a:latin typeface="Arial"/>
                <a:ea typeface="Arial"/>
                <a:cs typeface="Arial"/>
              </a:defRPr>
            </a:pPr>
            <a:r>
              <a:rPr sz="1800" b="0">
                <a:solidFill>
                  <a:srgbClr val="263B4A"/>
                </a:solidFill>
                <a:latin typeface="Arial"/>
                <a:ea typeface="Arial"/>
                <a:cs typeface="Arial"/>
              </a:rPr>
              <a:t>Filtros de fechas, canal y categoría</a:t>
            </a:r>
          </a:p>
          <a:p xmlns:a="http://schemas.openxmlformats.org/drawingml/2006/main">
            <a:r>
              <a:t/>
            </a:r>
          </a:p>
          <a:p xmlns:a="http://schemas.openxmlformats.org/drawingml/2006/main">
            <a:pPr algn="l">
              <a:defRPr sz="1800" b="0">
                <a:solidFill>
                  <a:srgbClr val="263B4A"/>
                </a:solidFill>
                <a:latin typeface="Arial"/>
                <a:ea typeface="Arial"/>
                <a:cs typeface="Arial"/>
              </a:defRPr>
            </a:pPr>
            <a:r>
              <a:rPr sz="1800" b="0">
                <a:solidFill>
                  <a:srgbClr val="263B4A"/>
                </a:solidFill>
                <a:latin typeface="Arial"/>
                <a:ea typeface="Arial"/>
                <a:cs typeface="Arial"/>
              </a:rPr>
              <a:t>Detalle de pedidos por selección</a:t>
            </a:r>
          </a:p>
        </p:txBody>
      </p:sp>
      <p:sp>
        <p:nvSpPr>
          <p:cNvPr id="9" name="dash-bottom">
            <a:extLst xmlns:a="http://schemas.openxmlformats.org/drawingml/2006/main">
              <a:ext uri="{FF2B5EF4-FFF2-40B4-BE49-F238E27FC236}">
                <a16:creationId xmlns:a16="http://schemas.microsoft.com/office/drawing/2014/main" id="{36BA51E0-D0A2-472D-86C4-C5784130C3C1}"/>
              </a:ext>
            </a:extLst>
          </p:cNvPr>
          <p:cNvSpPr>
            <a:spLocks xmlns:a="http://schemas.openxmlformats.org/drawingml/2006/main" noGrp="1"/>
          </p:cNvSpPr>
          <p:nvPr/>
        </p:nvSpPr>
        <p:spPr>
          <a:xfrm xmlns:a="http://schemas.openxmlformats.org/drawingml/2006/main">
            <a:off x="685800" y="6000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00" b="1">
                <a:solidFill>
                  <a:srgbClr val="087F8C"/>
                </a:solidFill>
                <a:latin typeface="Arial"/>
                <a:ea typeface="Arial"/>
                <a:cs typeface="Arial"/>
              </a:defRPr>
            </a:defPPr>
          </a:lstStyle>
          <a:p xmlns:a="http://schemas.openxmlformats.org/drawingml/2006/main">
            <a:pPr algn="l">
              <a:defRPr sz="1700" b="1">
                <a:solidFill>
                  <a:srgbClr val="087F8C"/>
                </a:solidFill>
                <a:latin typeface="Arial"/>
                <a:ea typeface="Arial"/>
                <a:cs typeface="Arial"/>
              </a:defRPr>
            </a:pPr>
            <a:r>
              <a:rPr sz="1700" b="1">
                <a:solidFill>
                  <a:srgbClr val="087F8C"/>
                </a:solidFill>
                <a:latin typeface="Arial"/>
                <a:ea typeface="Arial"/>
                <a:cs typeface="Arial"/>
              </a:rPr>
              <a:t>Seis tipos de gráfico y actualización automática. Ocho pruebas del dashboard aprobadas</a:t>
            </a:r>
          </a:p>
        </p:txBody>
      </p:sp>
    </p:spTree>
    <p:extLst>
      <p:ext uri="{BB962C8B-B14F-4D97-AF65-F5344CB8AC3E}">
        <p14:creationId xmlns:p14="http://schemas.microsoft.com/office/powerpoint/2010/main" val="5949435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83B4DC9-AFC1-4841-B817-AD00735D64D7}"/>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Demostración del recorrido completo</a:t>
            </a:r>
          </a:p>
        </p:txBody>
      </p:sp>
      <p:sp>
        <p:nvSpPr>
          <p:cNvPr id="2" name="footer">
            <a:extLst xmlns:a="http://schemas.openxmlformats.org/drawingml/2006/main">
              <a:ext uri="{FF2B5EF4-FFF2-40B4-BE49-F238E27FC236}">
                <a16:creationId xmlns:a16="http://schemas.microsoft.com/office/drawing/2014/main" id="{901C1A8F-2EB4-4788-97F2-AC851C361E69}"/>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9/10</a:t>
            </a:r>
          </a:p>
        </p:txBody>
      </p:sp>
      <p:graphicFrame>
        <p:nvGraphicFramePr>
          <p:cNvPr id="3" name="">
            <a:extLst xmlns:a="http://schemas.openxmlformats.org/drawingml/2006/main">
              <a:ext uri="{FF2B5EF4-FFF2-40B4-BE49-F238E27FC236}">
                <a16:creationId xmlns:a16="http://schemas.microsoft.com/office/drawing/2014/main" id="{38C92419-9EEE-4F99-BD2A-347E6641E8FD}"/>
              </a:ext>
            </a:extLst>
          </p:cNvPr>
          <p:cNvGraphicFramePr/>
          <p:nvPr/>
        </p:nvGraphicFramePr>
        <p:xfrm>
          <a:off xmlns:a="http://schemas.openxmlformats.org/drawingml/2006/main" x="685800" y="1457325"/>
          <a:ext xmlns:a="http://schemas.openxmlformats.org/drawingml/2006/main" cx="10820400" cy="3714750"/>
        </p:xfrm>
        <a:graphic xmlns:a="http://schemas.openxmlformats.org/drawingml/2006/main">
          <a:graphicData uri="http://schemas.openxmlformats.org/drawingml/2006/table">
            <a:tbl>
              <a:tblPr/>
              <a:tblGrid>
                <a:gridCol w="952500"/>
                <a:gridCol w="4238625"/>
                <a:gridCol w="5629275"/>
              </a:tblGrid>
              <a:tr h="619125">
                <a:tc>
                  <a:txBody>
                    <a:bodyPr lIns="133350" tIns="114300" rIns="133350" bIns="95250"/>
                    <a:lstStyle/>
                    <a:p>
                      <a:pPr algn="l"/>
                      <a:r>
                        <a:rPr sz="1700" b="1">
                          <a:solidFill>
                            <a:srgbClr val="FFFFFF"/>
                          </a:solidFill>
                          <a:latin typeface="Arial"/>
                          <a:ea typeface="Arial"/>
                          <a:cs typeface="Arial"/>
                        </a:rPr>
                        <a:t>Paso</a:t>
                      </a:r>
                    </a:p>
                  </a:txBody>
                  <a:tcPr marL="91440" marR="91440" marT="45720" marB="45720">
                    <a:solidFill>
                      <a:srgbClr val="102D44"/>
                    </a:solidFill>
                  </a:tcPr>
                </a:tc>
                <a:tc>
                  <a:txBody>
                    <a:bodyPr lIns="133350" tIns="114300" rIns="133350" bIns="95250"/>
                    <a:lstStyle/>
                    <a:p>
                      <a:pPr algn="l"/>
                      <a:r>
                        <a:rPr sz="1700" b="1">
                          <a:solidFill>
                            <a:srgbClr val="FFFFFF"/>
                          </a:solidFill>
                          <a:latin typeface="Arial"/>
                          <a:ea typeface="Arial"/>
                          <a:cs typeface="Arial"/>
                        </a:rPr>
                        <a:t>Acción</a:t>
                      </a:r>
                    </a:p>
                  </a:txBody>
                  <a:tcPr marL="91440" marR="91440" marT="45720" marB="45720">
                    <a:solidFill>
                      <a:srgbClr val="102D44"/>
                    </a:solidFill>
                  </a:tcPr>
                </a:tc>
                <a:tc>
                  <a:txBody>
                    <a:bodyPr lIns="133350" tIns="114300" rIns="133350" bIns="95250"/>
                    <a:lstStyle/>
                    <a:p>
                      <a:pPr algn="l"/>
                      <a:r>
                        <a:rPr sz="1700" b="1">
                          <a:solidFill>
                            <a:srgbClr val="FFFFFF"/>
                          </a:solidFill>
                          <a:latin typeface="Arial"/>
                          <a:ea typeface="Arial"/>
                          <a:cs typeface="Arial"/>
                        </a:rPr>
                        <a:t>Criterio de aceptación</a:t>
                      </a:r>
                    </a:p>
                  </a:txBody>
                  <a:tcPr marL="91440" marR="91440" marT="45720" marB="45720">
                    <a:solidFill>
                      <a:srgbClr val="102D44"/>
                    </a:solidFill>
                  </a:tcPr>
                </a:tc>
              </a:tr>
              <a:tr h="619125">
                <a:tc>
                  <a:txBody>
                    <a:bodyPr lIns="133350" tIns="114300" rIns="133350" bIns="95250"/>
                    <a:lstStyle/>
                    <a:p>
                      <a:pPr algn="l"/>
                      <a:r>
                        <a:rPr sz="1700" b="0">
                          <a:solidFill>
                            <a:srgbClr val="263B4A"/>
                          </a:solidFill>
                          <a:latin typeface="Arial"/>
                          <a:ea typeface="Arial"/>
                          <a:cs typeface="Arial"/>
                        </a:rPr>
                        <a:t>1</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Consultar REST y entregar CSV a NiFi</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Dos fuentes presentes en el lote</a:t>
                      </a:r>
                    </a:p>
                  </a:txBody>
                  <a:tcPr marL="91440" marR="91440" marT="45720" marB="45720">
                    <a:solidFill>
                      <a:srgbClr val="FFFFFF"/>
                    </a:solidFill>
                  </a:tcPr>
                </a:tc>
              </a:tr>
              <a:tr h="619125">
                <a:tc>
                  <a:txBody>
                    <a:bodyPr lIns="133350" tIns="114300" rIns="133350" bIns="95250"/>
                    <a:lstStyle/>
                    <a:p>
                      <a:pPr algn="l"/>
                      <a:r>
                        <a:rPr sz="1700" b="0">
                          <a:solidFill>
                            <a:srgbClr val="263B4A"/>
                          </a:solidFill>
                          <a:latin typeface="Arial"/>
                          <a:ea typeface="Arial"/>
                          <a:cs typeface="Arial"/>
                        </a:rPr>
                        <a:t>2</a:t>
                      </a:r>
                    </a:p>
                  </a:txBody>
                  <a:tcPr marL="91440" marR="91440" marT="45720" marB="45720">
                    <a:solidFill>
                      <a:srgbClr val="EDF4F6"/>
                    </a:solidFill>
                  </a:tcPr>
                </a:tc>
                <a:tc>
                  <a:txBody>
                    <a:bodyPr lIns="133350" tIns="114300" rIns="133350" bIns="95250"/>
                    <a:lstStyle/>
                    <a:p>
                      <a:pPr algn="l"/>
                      <a:r>
                        <a:rPr sz="1700" b="0">
                          <a:solidFill>
                            <a:srgbClr val="263B4A"/>
                          </a:solidFill>
                          <a:latin typeface="Arial"/>
                          <a:ea typeface="Arial"/>
                          <a:cs typeface="Arial"/>
                        </a:rPr>
                        <a:t>Ejecutar Spark y publicar en PostgreSQL</a:t>
                      </a:r>
                    </a:p>
                  </a:txBody>
                  <a:tcPr marL="91440" marR="91440" marT="45720" marB="45720">
                    <a:solidFill>
                      <a:srgbClr val="EDF4F6"/>
                    </a:solidFill>
                  </a:tcPr>
                </a:tc>
                <a:tc>
                  <a:txBody>
                    <a:bodyPr lIns="133350" tIns="114300" rIns="133350" bIns="95250"/>
                    <a:lstStyle/>
                    <a:p>
                      <a:pPr algn="l"/>
                      <a:r>
                        <a:rPr sz="1700" b="0">
                          <a:solidFill>
                            <a:srgbClr val="263B4A"/>
                          </a:solidFill>
                          <a:latin typeface="Arial"/>
                          <a:ea typeface="Arial"/>
                          <a:cs typeface="Arial"/>
                        </a:rPr>
                        <a:t>Conteos e importes reconciliados</a:t>
                      </a:r>
                    </a:p>
                  </a:txBody>
                  <a:tcPr marL="91440" marR="91440" marT="45720" marB="45720">
                    <a:solidFill>
                      <a:srgbClr val="EDF4F6"/>
                    </a:solidFill>
                  </a:tcPr>
                </a:tc>
              </a:tr>
              <a:tr h="619125">
                <a:tc>
                  <a:txBody>
                    <a:bodyPr lIns="133350" tIns="114300" rIns="133350" bIns="95250"/>
                    <a:lstStyle/>
                    <a:p>
                      <a:pPr algn="l"/>
                      <a:r>
                        <a:rPr sz="1700" b="0">
                          <a:solidFill>
                            <a:srgbClr val="263B4A"/>
                          </a:solidFill>
                          <a:latin typeface="Arial"/>
                          <a:ea typeface="Arial"/>
                          <a:cs typeface="Arial"/>
                        </a:rPr>
                        <a:t>3</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Repetir el lote inicial</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Hechos e importes permanecen iguales</a:t>
                      </a:r>
                    </a:p>
                  </a:txBody>
                  <a:tcPr marL="91440" marR="91440" marT="45720" marB="45720">
                    <a:solidFill>
                      <a:srgbClr val="FFFFFF"/>
                    </a:solidFill>
                  </a:tcPr>
                </a:tc>
              </a:tr>
              <a:tr h="619125">
                <a:tc>
                  <a:txBody>
                    <a:bodyPr lIns="133350" tIns="114300" rIns="133350" bIns="95250"/>
                    <a:lstStyle/>
                    <a:p>
                      <a:pPr algn="l"/>
                      <a:r>
                        <a:rPr sz="1700" b="0">
                          <a:solidFill>
                            <a:srgbClr val="263B4A"/>
                          </a:solidFill>
                          <a:latin typeface="Arial"/>
                          <a:ea typeface="Arial"/>
                          <a:cs typeface="Arial"/>
                        </a:rPr>
                        <a:t>4</a:t>
                      </a:r>
                    </a:p>
                  </a:txBody>
                  <a:tcPr marL="91440" marR="91440" marT="45720" marB="45720">
                    <a:solidFill>
                      <a:srgbClr val="EDF4F6"/>
                    </a:solidFill>
                  </a:tcPr>
                </a:tc>
                <a:tc>
                  <a:txBody>
                    <a:bodyPr lIns="133350" tIns="114300" rIns="133350" bIns="95250"/>
                    <a:lstStyle/>
                    <a:p>
                      <a:pPr algn="l"/>
                      <a:r>
                        <a:rPr sz="1700" b="0">
                          <a:solidFill>
                            <a:srgbClr val="263B4A"/>
                          </a:solidFill>
                          <a:latin typeface="Arial"/>
                          <a:ea typeface="Arial"/>
                          <a:cs typeface="Arial"/>
                        </a:rPr>
                        <a:t>Procesar los siete eventos del delta</a:t>
                      </a:r>
                    </a:p>
                  </a:txBody>
                  <a:tcPr marL="91440" marR="91440" marT="45720" marB="45720">
                    <a:solidFill>
                      <a:srgbClr val="EDF4F6"/>
                    </a:solidFill>
                  </a:tcPr>
                </a:tc>
                <a:tc>
                  <a:txBody>
                    <a:bodyPr lIns="133350" tIns="114300" rIns="133350" bIns="95250"/>
                    <a:lstStyle/>
                    <a:p>
                      <a:pPr algn="l"/>
                      <a:r>
                        <a:rPr sz="1700" b="0">
                          <a:solidFill>
                            <a:srgbClr val="263B4A"/>
                          </a:solidFill>
                          <a:latin typeface="Arial"/>
                          <a:ea typeface="Arial"/>
                          <a:cs typeface="Arial"/>
                        </a:rPr>
                        <a:t>Ingreso neto aumenta 280,00 BOB</a:t>
                      </a:r>
                    </a:p>
                  </a:txBody>
                  <a:tcPr marL="91440" marR="91440" marT="45720" marB="45720">
                    <a:solidFill>
                      <a:srgbClr val="EDF4F6"/>
                    </a:solidFill>
                  </a:tcPr>
                </a:tc>
              </a:tr>
              <a:tr h="619125">
                <a:tc>
                  <a:txBody>
                    <a:bodyPr lIns="133350" tIns="114300" rIns="133350" bIns="95250"/>
                    <a:lstStyle/>
                    <a:p>
                      <a:pPr algn="l"/>
                      <a:r>
                        <a:rPr sz="1700" b="0">
                          <a:solidFill>
                            <a:srgbClr val="263B4A"/>
                          </a:solidFill>
                          <a:latin typeface="Arial"/>
                          <a:ea typeface="Arial"/>
                          <a:cs typeface="Arial"/>
                        </a:rPr>
                        <a:t>5</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Filtrar y abrir un pedido en Dash</a:t>
                      </a:r>
                    </a:p>
                  </a:txBody>
                  <a:tcPr marL="91440" marR="91440" marT="45720" marB="45720">
                    <a:solidFill>
                      <a:srgbClr val="FFFFFF"/>
                    </a:solidFill>
                  </a:tcPr>
                </a:tc>
                <a:tc>
                  <a:txBody>
                    <a:bodyPr lIns="133350" tIns="114300" rIns="133350" bIns="95250"/>
                    <a:lstStyle/>
                    <a:p>
                      <a:pPr algn="l"/>
                      <a:r>
                        <a:rPr sz="1700" b="0">
                          <a:solidFill>
                            <a:srgbClr val="263B4A"/>
                          </a:solidFill>
                          <a:latin typeface="Arial"/>
                          <a:ea typeface="Arial"/>
                          <a:cs typeface="Arial"/>
                        </a:rPr>
                        <a:t>Detalle coincide con hechos persistidos</a:t>
                      </a:r>
                    </a:p>
                  </a:txBody>
                  <a:tcPr marL="91440" marR="91440" marT="45720" marB="45720">
                    <a:solidFill>
                      <a:srgbClr val="FFFFFF"/>
                    </a:solidFill>
                  </a:tcPr>
                </a:tc>
              </a:tr>
            </a:tbl>
          </a:graphicData>
        </a:graphic>
      </p:graphicFrame>
      <p:sp>
        <p:nvSpPr>
          <p:cNvPr id="4" name="demo-status">
            <a:extLst xmlns:a="http://schemas.openxmlformats.org/drawingml/2006/main">
              <a:ext uri="{FF2B5EF4-FFF2-40B4-BE49-F238E27FC236}">
                <a16:creationId xmlns:a16="http://schemas.microsoft.com/office/drawing/2014/main" id="{6B1E5A43-8E1C-4199-B4EC-DE20917C995E}"/>
              </a:ext>
            </a:extLst>
          </p:cNvPr>
          <p:cNvSpPr>
            <a:spLocks xmlns:a="http://schemas.openxmlformats.org/drawingml/2006/main" noGrp="1"/>
          </p:cNvSpPr>
          <p:nvPr/>
        </p:nvSpPr>
        <p:spPr>
          <a:xfrm xmlns:a="http://schemas.openxmlformats.org/drawingml/2006/main">
            <a:off x="685800" y="55816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87F8C"/>
                </a:solidFill>
                <a:latin typeface="Arial"/>
                <a:ea typeface="Arial"/>
                <a:cs typeface="Arial"/>
              </a:defRPr>
            </a:def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Pruebas de integración cotejadas con evidencias del laboratorio</a:t>
            </a:r>
          </a:p>
        </p:txBody>
      </p:sp>
    </p:spTree>
    <p:extLst>
      <p:ext uri="{BB962C8B-B14F-4D97-AF65-F5344CB8AC3E}">
        <p14:creationId xmlns:p14="http://schemas.microsoft.com/office/powerpoint/2010/main" val="16202964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5A8385F-EDF1-4BFA-9D12-7A2425C40E20}"/>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00" b="1">
                <a:solidFill>
                  <a:srgbClr val="102D44"/>
                </a:solidFill>
                <a:latin typeface="Arial"/>
                <a:ea typeface="Arial"/>
                <a:cs typeface="Arial"/>
              </a:defRPr>
            </a:defPPr>
          </a:lstStyle>
          <a:p xmlns:a="http://schemas.openxmlformats.org/drawingml/2006/main">
            <a:pPr algn="l">
              <a:defRPr sz="3200" b="1">
                <a:solidFill>
                  <a:srgbClr val="102D44"/>
                </a:solidFill>
                <a:latin typeface="Arial"/>
                <a:ea typeface="Arial"/>
                <a:cs typeface="Arial"/>
              </a:defRPr>
            </a:pPr>
            <a:r>
              <a:rPr sz="3200" b="1">
                <a:solidFill>
                  <a:srgbClr val="102D44"/>
                </a:solidFill>
                <a:latin typeface="Arial"/>
                <a:ea typeface="Arial"/>
                <a:cs typeface="Arial"/>
              </a:rPr>
              <a:t>Resultados del laboratorio</a:t>
            </a:r>
          </a:p>
        </p:txBody>
      </p:sp>
      <p:sp>
        <p:nvSpPr>
          <p:cNvPr id="2" name="footer">
            <a:extLst xmlns:a="http://schemas.openxmlformats.org/drawingml/2006/main">
              <a:ext uri="{FF2B5EF4-FFF2-40B4-BE49-F238E27FC236}">
                <a16:creationId xmlns:a16="http://schemas.microsoft.com/office/drawing/2014/main" id="{CA9217DD-921C-469A-BFDD-1B2E96DDA48C}"/>
              </a:ext>
            </a:extLst>
          </p:cNvPr>
          <p:cNvSpPr>
            <a:spLocks xmlns:a="http://schemas.openxmlformats.org/drawingml/2006/main" noGrp="1"/>
          </p:cNvSpPr>
          <p:nvPr/>
        </p:nvSpPr>
        <p:spPr>
          <a:xfrm xmlns:a="http://schemas.openxmlformats.org/drawingml/2006/main">
            <a:off x="685800" y="6381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00" b="0">
                <a:solidFill>
                  <a:srgbClr val="607483"/>
                </a:solidFill>
                <a:latin typeface="Arial"/>
                <a:ea typeface="Arial"/>
                <a:cs typeface="Arial"/>
              </a:defRPr>
            </a:defPPr>
          </a:lstStyle>
          <a:p xmlns:a="http://schemas.openxmlformats.org/drawingml/2006/main">
            <a:pPr algn="r">
              <a:defRPr sz="1300" b="0">
                <a:solidFill>
                  <a:srgbClr val="607483"/>
                </a:solidFill>
                <a:latin typeface="Arial"/>
                <a:ea typeface="Arial"/>
                <a:cs typeface="Arial"/>
              </a:defRPr>
            </a:pPr>
            <a:r>
              <a:rPr sz="1300" b="0">
                <a:solidFill>
                  <a:srgbClr val="607483"/>
                </a:solidFill>
                <a:latin typeface="Arial"/>
                <a:ea typeface="Arial"/>
                <a:cs typeface="Arial"/>
              </a:rPr>
              <a:t>Grupo A / LCD301     10/10</a:t>
            </a:r>
          </a:p>
        </p:txBody>
      </p:sp>
      <p:graphicFrame>
        <p:nvGraphicFramePr>
          <p:cNvPr id="3" name="">
            <a:extLst xmlns:a="http://schemas.openxmlformats.org/drawingml/2006/main">
              <a:ext uri="{FF2B5EF4-FFF2-40B4-BE49-F238E27FC236}">
                <a16:creationId xmlns:a16="http://schemas.microsoft.com/office/drawing/2014/main" id="{380DB57C-7240-454B-84BA-160A6CE2DF0A}"/>
              </a:ext>
            </a:extLst>
          </p:cNvPr>
          <p:cNvGraphicFramePr/>
          <p:nvPr/>
        </p:nvGraphicFramePr>
        <p:xfrm>
          <a:off xmlns:a="http://schemas.openxmlformats.org/drawingml/2006/main" x="685800" y="1457325"/>
          <a:ext xmlns:a="http://schemas.openxmlformats.org/drawingml/2006/main" cx="10820400" cy="3543300"/>
        </p:xfrm>
        <a:graphic xmlns:a="http://schemas.openxmlformats.org/drawingml/2006/main">
          <a:graphicData uri="http://schemas.openxmlformats.org/drawingml/2006/table">
            <a:tbl>
              <a:tblPr/>
              <a:tblGrid>
                <a:gridCol w="3952875"/>
                <a:gridCol w="3429000"/>
                <a:gridCol w="3438525"/>
              </a:tblGrid>
              <a:tr h="590550">
                <a:tc>
                  <a:txBody>
                    <a:bodyPr lIns="133350" tIns="114300" rIns="133350" bIns="95250"/>
                    <a:lstStyle/>
                    <a:p>
                      <a:pPr algn="l"/>
                      <a:r>
                        <a:rPr sz="2000" b="1">
                          <a:solidFill>
                            <a:srgbClr val="FFFFFF"/>
                          </a:solidFill>
                          <a:latin typeface="Arial"/>
                          <a:ea typeface="Arial"/>
                          <a:cs typeface="Arial"/>
                        </a:rPr>
                        <a:t>Indicador</a:t>
                      </a:r>
                    </a:p>
                  </a:txBody>
                  <a:tcPr marL="91440" marR="91440" marT="45720" marB="45720">
                    <a:solidFill>
                      <a:srgbClr val="102D44"/>
                    </a:solidFill>
                  </a:tcPr>
                </a:tc>
                <a:tc>
                  <a:txBody>
                    <a:bodyPr lIns="133350" tIns="114300" rIns="133350" bIns="95250"/>
                    <a:lstStyle/>
                    <a:p>
                      <a:pPr algn="l"/>
                      <a:r>
                        <a:rPr sz="2000" b="1">
                          <a:solidFill>
                            <a:srgbClr val="FFFFFF"/>
                          </a:solidFill>
                          <a:latin typeface="Arial"/>
                          <a:ea typeface="Arial"/>
                          <a:cs typeface="Arial"/>
                        </a:rPr>
                        <a:t>Lote inicial</a:t>
                      </a:r>
                    </a:p>
                  </a:txBody>
                  <a:tcPr marL="91440" marR="91440" marT="45720" marB="45720">
                    <a:solidFill>
                      <a:srgbClr val="102D44"/>
                    </a:solidFill>
                  </a:tcPr>
                </a:tc>
                <a:tc>
                  <a:txBody>
                    <a:bodyPr lIns="133350" tIns="114300" rIns="133350" bIns="95250"/>
                    <a:lstStyle/>
                    <a:p>
                      <a:pPr algn="l"/>
                      <a:r>
                        <a:rPr sz="2000" b="1">
                          <a:solidFill>
                            <a:srgbClr val="FFFFFF"/>
                          </a:solidFill>
                          <a:latin typeface="Arial"/>
                          <a:ea typeface="Arial"/>
                          <a:cs typeface="Arial"/>
                        </a:rPr>
                        <a:t>Tras delta</a:t>
                      </a:r>
                    </a:p>
                  </a:txBody>
                  <a:tcPr marL="91440" marR="91440" marT="45720" marB="45720">
                    <a:solidFill>
                      <a:srgbClr val="102D44"/>
                    </a:solidFill>
                  </a:tcPr>
                </a:tc>
              </a:tr>
              <a:tr h="590550">
                <a:tc>
                  <a:txBody>
                    <a:bodyPr lIns="133350" tIns="114300" rIns="133350" bIns="95250"/>
                    <a:lstStyle/>
                    <a:p>
                      <a:pPr algn="l"/>
                      <a:r>
                        <a:rPr sz="2000" b="0">
                          <a:solidFill>
                            <a:srgbClr val="263B4A"/>
                          </a:solidFill>
                          <a:latin typeface="Arial"/>
                          <a:ea typeface="Arial"/>
                          <a:cs typeface="Arial"/>
                        </a:rPr>
                        <a:t>Hechos publicados</a:t>
                      </a:r>
                    </a:p>
                  </a:txBody>
                  <a:tcPr marL="91440" marR="91440" marT="45720" marB="45720">
                    <a:solidFill>
                      <a:srgbClr val="FFFFFF"/>
                    </a:solidFill>
                  </a:tcPr>
                </a:tc>
                <a:tc>
                  <a:txBody>
                    <a:bodyPr lIns="133350" tIns="114300" rIns="133350" bIns="95250"/>
                    <a:lstStyle/>
                    <a:p>
                      <a:pPr algn="l"/>
                      <a:r>
                        <a:rPr sz="2000" b="0">
                          <a:solidFill>
                            <a:srgbClr val="263B4A"/>
                          </a:solidFill>
                          <a:latin typeface="Arial"/>
                          <a:ea typeface="Arial"/>
                          <a:cs typeface="Arial"/>
                        </a:rPr>
                        <a:t>31.000</a:t>
                      </a:r>
                    </a:p>
                  </a:txBody>
                  <a:tcPr marL="91440" marR="91440" marT="45720" marB="45720">
                    <a:solidFill>
                      <a:srgbClr val="FFFFFF"/>
                    </a:solidFill>
                  </a:tcPr>
                </a:tc>
                <a:tc>
                  <a:txBody>
                    <a:bodyPr lIns="133350" tIns="114300" rIns="133350" bIns="95250"/>
                    <a:lstStyle/>
                    <a:p>
                      <a:pPr algn="l"/>
                      <a:r>
                        <a:rPr sz="2000" b="0">
                          <a:solidFill>
                            <a:srgbClr val="263B4A"/>
                          </a:solidFill>
                          <a:latin typeface="Arial"/>
                          <a:ea typeface="Arial"/>
                          <a:cs typeface="Arial"/>
                        </a:rPr>
                        <a:t>31.007</a:t>
                      </a:r>
                    </a:p>
                  </a:txBody>
                  <a:tcPr marL="91440" marR="91440" marT="45720" marB="45720">
                    <a:solidFill>
                      <a:srgbClr val="FFFFFF"/>
                    </a:solidFill>
                  </a:tcPr>
                </a:tc>
              </a:tr>
              <a:tr h="590550">
                <a:tc>
                  <a:txBody>
                    <a:bodyPr lIns="133350" tIns="114300" rIns="133350" bIns="95250"/>
                    <a:lstStyle/>
                    <a:p>
                      <a:pPr algn="l"/>
                      <a:r>
                        <a:rPr sz="2000" b="0">
                          <a:solidFill>
                            <a:srgbClr val="263B4A"/>
                          </a:solidFill>
                          <a:latin typeface="Arial"/>
                          <a:ea typeface="Arial"/>
                          <a:cs typeface="Arial"/>
                        </a:rPr>
                        <a:t>Pedidos pagados</a:t>
                      </a:r>
                    </a:p>
                  </a:txBody>
                  <a:tcPr marL="91440" marR="91440" marT="45720" marB="45720">
                    <a:solidFill>
                      <a:srgbClr val="EDF4F6"/>
                    </a:solidFill>
                  </a:tcPr>
                </a:tc>
                <a:tc>
                  <a:txBody>
                    <a:bodyPr lIns="133350" tIns="114300" rIns="133350" bIns="95250"/>
                    <a:lstStyle/>
                    <a:p>
                      <a:pPr algn="l"/>
                      <a:r>
                        <a:rPr sz="2000" b="0">
                          <a:solidFill>
                            <a:srgbClr val="263B4A"/>
                          </a:solidFill>
                          <a:latin typeface="Arial"/>
                          <a:ea typeface="Arial"/>
                          <a:cs typeface="Arial"/>
                        </a:rPr>
                        <a:t>12.800</a:t>
                      </a:r>
                    </a:p>
                  </a:txBody>
                  <a:tcPr marL="91440" marR="91440" marT="45720" marB="45720">
                    <a:solidFill>
                      <a:srgbClr val="EDF4F6"/>
                    </a:solidFill>
                  </a:tcPr>
                </a:tc>
                <a:tc>
                  <a:txBody>
                    <a:bodyPr lIns="133350" tIns="114300" rIns="133350" bIns="95250"/>
                    <a:lstStyle/>
                    <a:p>
                      <a:pPr algn="l"/>
                      <a:r>
                        <a:rPr sz="2000" b="0">
                          <a:solidFill>
                            <a:srgbClr val="263B4A"/>
                          </a:solidFill>
                          <a:latin typeface="Arial"/>
                          <a:ea typeface="Arial"/>
                          <a:cs typeface="Arial"/>
                        </a:rPr>
                        <a:t>12.803</a:t>
                      </a:r>
                    </a:p>
                  </a:txBody>
                  <a:tcPr marL="91440" marR="91440" marT="45720" marB="45720">
                    <a:solidFill>
                      <a:srgbClr val="EDF4F6"/>
                    </a:solidFill>
                  </a:tcPr>
                </a:tc>
              </a:tr>
              <a:tr h="590550">
                <a:tc>
                  <a:txBody>
                    <a:bodyPr lIns="133350" tIns="114300" rIns="133350" bIns="95250"/>
                    <a:lstStyle/>
                    <a:p>
                      <a:pPr algn="l"/>
                      <a:r>
                        <a:rPr sz="2000" b="0">
                          <a:solidFill>
                            <a:srgbClr val="263B4A"/>
                          </a:solidFill>
                          <a:latin typeface="Arial"/>
                          <a:ea typeface="Arial"/>
                          <a:cs typeface="Arial"/>
                        </a:rPr>
                        <a:t>Ingresos brutos BOB</a:t>
                      </a:r>
                    </a:p>
                  </a:txBody>
                  <a:tcPr marL="91440" marR="91440" marT="45720" marB="45720">
                    <a:solidFill>
                      <a:srgbClr val="FFFFFF"/>
                    </a:solidFill>
                  </a:tcPr>
                </a:tc>
                <a:tc>
                  <a:txBody>
                    <a:bodyPr lIns="133350" tIns="114300" rIns="133350" bIns="95250"/>
                    <a:lstStyle/>
                    <a:p>
                      <a:pPr algn="l"/>
                      <a:r>
                        <a:rPr sz="2000" b="0">
                          <a:solidFill>
                            <a:srgbClr val="263B4A"/>
                          </a:solidFill>
                          <a:latin typeface="Arial"/>
                          <a:ea typeface="Arial"/>
                          <a:cs typeface="Arial"/>
                        </a:rPr>
                        <a:t>28.041.488,60</a:t>
                      </a:r>
                    </a:p>
                  </a:txBody>
                  <a:tcPr marL="91440" marR="91440" marT="45720" marB="45720">
                    <a:solidFill>
                      <a:srgbClr val="FFFFFF"/>
                    </a:solidFill>
                  </a:tcPr>
                </a:tc>
                <a:tc>
                  <a:txBody>
                    <a:bodyPr lIns="133350" tIns="114300" rIns="133350" bIns="95250"/>
                    <a:lstStyle/>
                    <a:p>
                      <a:pPr algn="l"/>
                      <a:r>
                        <a:rPr sz="2000" b="0">
                          <a:solidFill>
                            <a:srgbClr val="263B4A"/>
                          </a:solidFill>
                          <a:latin typeface="Arial"/>
                          <a:ea typeface="Arial"/>
                          <a:cs typeface="Arial"/>
                        </a:rPr>
                        <a:t>28.041.868,60</a:t>
                      </a:r>
                    </a:p>
                  </a:txBody>
                  <a:tcPr marL="91440" marR="91440" marT="45720" marB="45720">
                    <a:solidFill>
                      <a:srgbClr val="FFFFFF"/>
                    </a:solidFill>
                  </a:tcPr>
                </a:tc>
              </a:tr>
              <a:tr h="590550">
                <a:tc>
                  <a:txBody>
                    <a:bodyPr lIns="133350" tIns="114300" rIns="133350" bIns="95250"/>
                    <a:lstStyle/>
                    <a:p>
                      <a:pPr algn="l"/>
                      <a:r>
                        <a:rPr sz="2000" b="0">
                          <a:solidFill>
                            <a:srgbClr val="263B4A"/>
                          </a:solidFill>
                          <a:latin typeface="Arial"/>
                          <a:ea typeface="Arial"/>
                          <a:cs typeface="Arial"/>
                        </a:rPr>
                        <a:t>Reembolsos BOB</a:t>
                      </a:r>
                    </a:p>
                  </a:txBody>
                  <a:tcPr marL="91440" marR="91440" marT="45720" marB="45720">
                    <a:solidFill>
                      <a:srgbClr val="EDF4F6"/>
                    </a:solidFill>
                  </a:tcPr>
                </a:tc>
                <a:tc>
                  <a:txBody>
                    <a:bodyPr lIns="133350" tIns="114300" rIns="133350" bIns="95250"/>
                    <a:lstStyle/>
                    <a:p>
                      <a:pPr algn="l"/>
                      <a:r>
                        <a:rPr sz="2000" b="0">
                          <a:solidFill>
                            <a:srgbClr val="263B4A"/>
                          </a:solidFill>
                          <a:latin typeface="Arial"/>
                          <a:ea typeface="Arial"/>
                          <a:cs typeface="Arial"/>
                        </a:rPr>
                        <a:t>1.660.119,15</a:t>
                      </a:r>
                    </a:p>
                  </a:txBody>
                  <a:tcPr marL="91440" marR="91440" marT="45720" marB="45720">
                    <a:solidFill>
                      <a:srgbClr val="EDF4F6"/>
                    </a:solidFill>
                  </a:tcPr>
                </a:tc>
                <a:tc>
                  <a:txBody>
                    <a:bodyPr lIns="133350" tIns="114300" rIns="133350" bIns="95250"/>
                    <a:lstStyle/>
                    <a:p>
                      <a:pPr algn="l"/>
                      <a:r>
                        <a:rPr sz="2000" b="0">
                          <a:solidFill>
                            <a:srgbClr val="263B4A"/>
                          </a:solidFill>
                          <a:latin typeface="Arial"/>
                          <a:ea typeface="Arial"/>
                          <a:cs typeface="Arial"/>
                        </a:rPr>
                        <a:t>1.660.219,15</a:t>
                      </a:r>
                    </a:p>
                  </a:txBody>
                  <a:tcPr marL="91440" marR="91440" marT="45720" marB="45720">
                    <a:solidFill>
                      <a:srgbClr val="EDF4F6"/>
                    </a:solidFill>
                  </a:tcPr>
                </a:tc>
              </a:tr>
              <a:tr h="590550">
                <a:tc>
                  <a:txBody>
                    <a:bodyPr lIns="133350" tIns="114300" rIns="133350" bIns="95250"/>
                    <a:lstStyle/>
                    <a:p>
                      <a:pPr algn="l"/>
                      <a:r>
                        <a:rPr sz="2000" b="0">
                          <a:solidFill>
                            <a:srgbClr val="263B4A"/>
                          </a:solidFill>
                          <a:latin typeface="Arial"/>
                          <a:ea typeface="Arial"/>
                          <a:cs typeface="Arial"/>
                        </a:rPr>
                        <a:t>Ingresos netos BOB</a:t>
                      </a:r>
                    </a:p>
                  </a:txBody>
                  <a:tcPr marL="91440" marR="91440" marT="45720" marB="45720">
                    <a:solidFill>
                      <a:srgbClr val="FFFFFF"/>
                    </a:solidFill>
                  </a:tcPr>
                </a:tc>
                <a:tc>
                  <a:txBody>
                    <a:bodyPr lIns="133350" tIns="114300" rIns="133350" bIns="95250"/>
                    <a:lstStyle/>
                    <a:p>
                      <a:pPr algn="l"/>
                      <a:r>
                        <a:rPr sz="2000" b="0">
                          <a:solidFill>
                            <a:srgbClr val="263B4A"/>
                          </a:solidFill>
                          <a:latin typeface="Arial"/>
                          <a:ea typeface="Arial"/>
                          <a:cs typeface="Arial"/>
                        </a:rPr>
                        <a:t>26.381.369,45</a:t>
                      </a:r>
                    </a:p>
                  </a:txBody>
                  <a:tcPr marL="91440" marR="91440" marT="45720" marB="45720">
                    <a:solidFill>
                      <a:srgbClr val="FFFFFF"/>
                    </a:solidFill>
                  </a:tcPr>
                </a:tc>
                <a:tc>
                  <a:txBody>
                    <a:bodyPr lIns="133350" tIns="114300" rIns="133350" bIns="95250"/>
                    <a:lstStyle/>
                    <a:p>
                      <a:pPr algn="l"/>
                      <a:r>
                        <a:rPr sz="2000" b="0">
                          <a:solidFill>
                            <a:srgbClr val="263B4A"/>
                          </a:solidFill>
                          <a:latin typeface="Arial"/>
                          <a:ea typeface="Arial"/>
                          <a:cs typeface="Arial"/>
                        </a:rPr>
                        <a:t>26.381.649,45</a:t>
                      </a:r>
                    </a:p>
                  </a:txBody>
                  <a:tcPr marL="91440" marR="91440" marT="45720" marB="45720">
                    <a:solidFill>
                      <a:srgbClr val="FFFFFF"/>
                    </a:solidFill>
                  </a:tcPr>
                </a:tc>
              </a:tr>
            </a:tbl>
          </a:graphicData>
        </a:graphic>
      </p:graphicFrame>
      <p:sp>
        <p:nvSpPr>
          <p:cNvPr id="4" name="result-conclusion">
            <a:extLst xmlns:a="http://schemas.openxmlformats.org/drawingml/2006/main">
              <a:ext uri="{FF2B5EF4-FFF2-40B4-BE49-F238E27FC236}">
                <a16:creationId xmlns:a16="http://schemas.microsoft.com/office/drawing/2014/main" id="{FE8911B1-3272-434A-A27D-6B81C19ADF98}"/>
              </a:ext>
            </a:extLst>
          </p:cNvPr>
          <p:cNvSpPr>
            <a:spLocks xmlns:a="http://schemas.openxmlformats.org/drawingml/2006/main" noGrp="1"/>
          </p:cNvSpPr>
          <p:nvPr/>
        </p:nvSpPr>
        <p:spPr>
          <a:xfrm xmlns:a="http://schemas.openxmlformats.org/drawingml/2006/main">
            <a:off x="685800" y="54197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00" b="1">
                <a:solidFill>
                  <a:srgbClr val="087F8C"/>
                </a:solidFill>
                <a:latin typeface="Arial"/>
                <a:ea typeface="Arial"/>
                <a:cs typeface="Arial"/>
              </a:defRPr>
            </a:defPPr>
          </a:lstStyle>
          <a:p xmlns:a="http://schemas.openxmlformats.org/drawingml/2006/main">
            <a:pPr algn="l">
              <a:defRPr sz="2300" b="1">
                <a:solidFill>
                  <a:srgbClr val="087F8C"/>
                </a:solidFill>
                <a:latin typeface="Arial"/>
                <a:ea typeface="Arial"/>
                <a:cs typeface="Arial"/>
              </a:defRPr>
            </a:pPr>
            <a:r>
              <a:rPr sz="2300" b="1">
                <a:solidFill>
                  <a:srgbClr val="087F8C"/>
                </a:solidFill>
                <a:latin typeface="Arial"/>
                <a:ea typeface="Arial"/>
                <a:cs typeface="Arial"/>
              </a:rPr>
              <a:t>Las cinco capas entregan indicadores trazables por lote</a:t>
            </a:r>
          </a:p>
        </p:txBody>
      </p:sp>
      <p:sp>
        <p:nvSpPr>
          <p:cNvPr id="5" name="result-disclosure">
            <a:extLst xmlns:a="http://schemas.openxmlformats.org/drawingml/2006/main">
              <a:ext uri="{FF2B5EF4-FFF2-40B4-BE49-F238E27FC236}">
                <a16:creationId xmlns:a16="http://schemas.microsoft.com/office/drawing/2014/main" id="{76C8CFC1-F712-40E2-90B7-6C4FDA51DB49}"/>
              </a:ext>
            </a:extLst>
          </p:cNvPr>
          <p:cNvSpPr>
            <a:spLocks xmlns:a="http://schemas.openxmlformats.org/drawingml/2006/main" noGrp="1"/>
          </p:cNvSpPr>
          <p:nvPr/>
        </p:nvSpPr>
        <p:spPr>
          <a:xfrm xmlns:a="http://schemas.openxmlformats.org/drawingml/2006/main">
            <a:off x="685800" y="605790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07483"/>
                </a:solidFill>
                <a:latin typeface="Arial"/>
                <a:ea typeface="Arial"/>
                <a:cs typeface="Arial"/>
              </a:defRPr>
            </a:defPPr>
          </a:lstStyle>
          <a:p xmlns:a="http://schemas.openxmlformats.org/drawingml/2006/main">
            <a:pPr algn="l">
              <a:defRPr sz="1500" b="0">
                <a:solidFill>
                  <a:srgbClr val="607483"/>
                </a:solidFill>
                <a:latin typeface="Arial"/>
                <a:ea typeface="Arial"/>
                <a:cs typeface="Arial"/>
              </a:defRPr>
            </a:pPr>
            <a:r>
              <a:rPr sz="1500" b="0">
                <a:solidFill>
                  <a:srgbClr val="607483"/>
                </a:solidFill>
                <a:latin typeface="Arial"/>
                <a:ea typeface="Arial"/>
                <a:cs typeface="Arial"/>
              </a:rPr>
              <a:t>Datos sintéticos. Ejecución Windows. Docker Compose tiene validación estática, sin ejecución</a:t>
            </a:r>
          </a:p>
        </p:txBody>
      </p:sp>
    </p:spTree>
    <p:extLst>
      <p:ext uri="{BB962C8B-B14F-4D97-AF65-F5344CB8AC3E}">
        <p14:creationId xmlns:p14="http://schemas.microsoft.com/office/powerpoint/2010/main" val="154720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2026-10-10T00:07:27.9930000Z</dcterms:created>
  <dcterms:modified xsi:type="dcterms:W3CDTF">2026-10-10T00:07:27.9930000Z</dcterms:modified>
</coreProperties>
</file>